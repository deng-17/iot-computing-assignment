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9" r:id="rId4"/>
    <p:sldId id="260" r:id="rId5"/>
    <p:sldId id="261" r:id="rId6"/>
    <p:sldId id="262" r:id="rId7"/>
    <p:sldId id="263" r:id="rId8"/>
    <p:sldId id="264" r:id="rId9"/>
    <p:sldId id="265"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51" autoAdjust="0"/>
    <p:restoredTop sz="94660"/>
  </p:normalViewPr>
  <p:slideViewPr>
    <p:cSldViewPr snapToGrid="0">
      <p:cViewPr>
        <p:scale>
          <a:sx n="75" d="100"/>
          <a:sy n="75" d="100"/>
        </p:scale>
        <p:origin x="667"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20850079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109212110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216519685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94E0E58-FB7B-4509-9158-A80062E713EA}"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213382199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94E0E58-FB7B-4509-9158-A80062E713EA}"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33126797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94E0E58-FB7B-4509-9158-A80062E713EA}"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91043471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4E0E58-FB7B-4509-9158-A80062E713EA}"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14689000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4E0E58-FB7B-4509-9158-A80062E713EA}"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40323745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4E0E58-FB7B-4509-9158-A80062E713EA}"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4582912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47589954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CD29100-DD4F-4D9D-B66A-E9CD67C3CC2E}"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5096147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94E0E58-FB7B-4509-9158-A80062E713EA}"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177976829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94E0E58-FB7B-4509-9158-A80062E713EA}"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CD29100-DD4F-4D9D-B66A-E9CD67C3CC2E}"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221247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94E0E58-FB7B-4509-9158-A80062E713EA}"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282594124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321431114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4E0E58-FB7B-4509-9158-A80062E713EA}"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CD29100-DD4F-4D9D-B66A-E9CD67C3CC2E}" type="slidenum">
              <a:rPr lang="en-US" smtClean="0"/>
              <a:t>‹#›</a:t>
            </a:fld>
            <a:endParaRPr lang="en-US"/>
          </a:p>
        </p:txBody>
      </p:sp>
    </p:spTree>
    <p:extLst>
      <p:ext uri="{BB962C8B-B14F-4D97-AF65-F5344CB8AC3E}">
        <p14:creationId xmlns:p14="http://schemas.microsoft.com/office/powerpoint/2010/main" val="223537230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94E0E58-FB7B-4509-9158-A80062E713EA}" type="datetimeFigureOut">
              <a:rPr lang="en-US" smtClean="0"/>
              <a:t>11/17/2025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CD29100-DD4F-4D9D-B66A-E9CD67C3CC2E}" type="slidenum">
              <a:rPr lang="en-US" smtClean="0"/>
              <a:t>‹#›</a:t>
            </a:fld>
            <a:endParaRPr lang="en-US"/>
          </a:p>
        </p:txBody>
      </p:sp>
    </p:spTree>
    <p:extLst>
      <p:ext uri="{BB962C8B-B14F-4D97-AF65-F5344CB8AC3E}">
        <p14:creationId xmlns:p14="http://schemas.microsoft.com/office/powerpoint/2010/main" val="3068225323"/>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622473" y="1160567"/>
            <a:ext cx="3989288" cy="3873251"/>
          </a:xfrm>
          <a:prstGeom prst="rect">
            <a:avLst/>
          </a:prstGeom>
        </p:spPr>
      </p:pic>
      <p:sp>
        <p:nvSpPr>
          <p:cNvPr id="2" name="Title 1"/>
          <p:cNvSpPr>
            <a:spLocks noGrp="1"/>
          </p:cNvSpPr>
          <p:nvPr>
            <p:ph type="ctrTitle"/>
          </p:nvPr>
        </p:nvSpPr>
        <p:spPr>
          <a:xfrm>
            <a:off x="1540998" y="407021"/>
            <a:ext cx="8915399" cy="719254"/>
          </a:xfrm>
        </p:spPr>
        <p:txBody>
          <a:bodyPr>
            <a:normAutofit fontScale="90000"/>
          </a:bodyPr>
          <a:lstStyle/>
          <a:p>
            <a:r>
              <a:rPr lang="en-GB" dirty="0" smtClean="0">
                <a:solidFill>
                  <a:srgbClr val="7030A0"/>
                </a:solidFill>
                <a:latin typeface="Algerian" panose="04020705040A02060702" pitchFamily="82" charset="0"/>
              </a:rPr>
              <a:t>INTERNET of THINGS (</a:t>
            </a:r>
            <a:r>
              <a:rPr lang="en-GB" dirty="0" err="1" smtClean="0">
                <a:solidFill>
                  <a:srgbClr val="7030A0"/>
                </a:solidFill>
                <a:latin typeface="Algerian" panose="04020705040A02060702" pitchFamily="82" charset="0"/>
              </a:rPr>
              <a:t>IoT</a:t>
            </a:r>
            <a:r>
              <a:rPr lang="en-GB" dirty="0" smtClean="0">
                <a:solidFill>
                  <a:srgbClr val="7030A0"/>
                </a:solidFill>
                <a:latin typeface="Algerian" panose="04020705040A02060702" pitchFamily="82" charset="0"/>
              </a:rPr>
              <a:t>)</a:t>
            </a:r>
            <a:endParaRPr lang="en-US" dirty="0">
              <a:solidFill>
                <a:srgbClr val="7030A0"/>
              </a:solidFill>
              <a:latin typeface="Algerian" panose="04020705040A02060702" pitchFamily="82" charset="0"/>
            </a:endParaRPr>
          </a:p>
        </p:txBody>
      </p:sp>
      <p:sp>
        <p:nvSpPr>
          <p:cNvPr id="3" name="Subtitle 2"/>
          <p:cNvSpPr>
            <a:spLocks noGrp="1"/>
          </p:cNvSpPr>
          <p:nvPr>
            <p:ph type="subTitle" idx="1"/>
          </p:nvPr>
        </p:nvSpPr>
        <p:spPr>
          <a:xfrm>
            <a:off x="1613853" y="5407299"/>
            <a:ext cx="8915399" cy="1126283"/>
          </a:xfrm>
        </p:spPr>
        <p:txBody>
          <a:bodyPr/>
          <a:lstStyle/>
          <a:p>
            <a:r>
              <a:rPr lang="en-GB" b="1" i="1" dirty="0" smtClean="0">
                <a:solidFill>
                  <a:srgbClr val="0070C0"/>
                </a:solidFill>
              </a:rPr>
              <a:t>Definition: </a:t>
            </a:r>
          </a:p>
          <a:p>
            <a:r>
              <a:rPr lang="en-GB" dirty="0" smtClean="0">
                <a:solidFill>
                  <a:srgbClr val="0070C0"/>
                </a:solidFill>
              </a:rPr>
              <a:t>Internet </a:t>
            </a:r>
            <a:r>
              <a:rPr lang="en-GB" dirty="0">
                <a:solidFill>
                  <a:srgbClr val="0070C0"/>
                </a:solidFill>
              </a:rPr>
              <a:t>of things is a network of interrelated devices that connect and exchange data with other </a:t>
            </a:r>
            <a:r>
              <a:rPr lang="en-GB" dirty="0" err="1">
                <a:solidFill>
                  <a:srgbClr val="0070C0"/>
                </a:solidFill>
              </a:rPr>
              <a:t>IoT</a:t>
            </a:r>
            <a:r>
              <a:rPr lang="en-GB" dirty="0">
                <a:solidFill>
                  <a:srgbClr val="0070C0"/>
                </a:solidFill>
              </a:rPr>
              <a:t> devices and cloud.</a:t>
            </a:r>
            <a:endParaRPr lang="en-US" dirty="0">
              <a:solidFill>
                <a:srgbClr val="0070C0"/>
              </a:solidFill>
            </a:endParaRPr>
          </a:p>
          <a:p>
            <a:endParaRPr lang="en-US" dirty="0">
              <a:solidFill>
                <a:srgbClr val="0070C0"/>
              </a:solidFill>
            </a:endParaRPr>
          </a:p>
        </p:txBody>
      </p:sp>
      <p:sp>
        <p:nvSpPr>
          <p:cNvPr id="4" name="Rectangle 3"/>
          <p:cNvSpPr/>
          <p:nvPr/>
        </p:nvSpPr>
        <p:spPr>
          <a:xfrm>
            <a:off x="1540998" y="1293541"/>
            <a:ext cx="3446638" cy="328961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dirty="0" smtClean="0"/>
              <a:t>Presented by</a:t>
            </a:r>
            <a:r>
              <a:rPr lang="en-US" dirty="0" smtClean="0"/>
              <a:t>:</a:t>
            </a:r>
          </a:p>
          <a:p>
            <a:endParaRPr lang="en-US" i="1" dirty="0" smtClean="0">
              <a:solidFill>
                <a:schemeClr val="accent1">
                  <a:lumMod val="75000"/>
                </a:schemeClr>
              </a:solidFill>
            </a:endParaRPr>
          </a:p>
          <a:p>
            <a:pPr marL="342900" indent="-342900">
              <a:buFont typeface="+mj-lt"/>
              <a:buAutoNum type="arabicPeriod"/>
            </a:pPr>
            <a:r>
              <a:rPr lang="en-GB" i="1" dirty="0" smtClean="0">
                <a:solidFill>
                  <a:schemeClr val="accent1">
                    <a:lumMod val="75000"/>
                  </a:schemeClr>
                </a:solidFill>
              </a:rPr>
              <a:t>ODORA STEPHEN.</a:t>
            </a:r>
          </a:p>
          <a:p>
            <a:pPr marL="342900" indent="-342900">
              <a:buFont typeface="+mj-lt"/>
              <a:buAutoNum type="arabicPeriod"/>
            </a:pPr>
            <a:r>
              <a:rPr lang="en-GB" i="1" dirty="0" smtClean="0">
                <a:solidFill>
                  <a:schemeClr val="accent1">
                    <a:lumMod val="75000"/>
                  </a:schemeClr>
                </a:solidFill>
              </a:rPr>
              <a:t>OTIM AMOS.</a:t>
            </a:r>
          </a:p>
          <a:p>
            <a:pPr marL="342900" indent="-342900">
              <a:buFont typeface="+mj-lt"/>
              <a:buAutoNum type="arabicPeriod"/>
            </a:pPr>
            <a:r>
              <a:rPr lang="en-GB" i="1" dirty="0" smtClean="0">
                <a:solidFill>
                  <a:schemeClr val="accent1">
                    <a:lumMod val="75000"/>
                  </a:schemeClr>
                </a:solidFill>
              </a:rPr>
              <a:t>KUSENA JIMMY.</a:t>
            </a:r>
          </a:p>
          <a:p>
            <a:pPr marL="342900" indent="-342900">
              <a:buFont typeface="+mj-lt"/>
              <a:buAutoNum type="arabicPeriod"/>
            </a:pPr>
            <a:r>
              <a:rPr lang="en-GB" i="1" dirty="0">
                <a:solidFill>
                  <a:schemeClr val="accent1">
                    <a:lumMod val="75000"/>
                  </a:schemeClr>
                </a:solidFill>
              </a:rPr>
              <a:t>DENG YAK DENG </a:t>
            </a:r>
            <a:r>
              <a:rPr lang="en-GB" i="1" dirty="0" smtClean="0">
                <a:solidFill>
                  <a:schemeClr val="accent1">
                    <a:lumMod val="75000"/>
                  </a:schemeClr>
                </a:solidFill>
              </a:rPr>
              <a:t>ATER.</a:t>
            </a:r>
          </a:p>
          <a:p>
            <a:pPr marL="342900" indent="-342900">
              <a:buFont typeface="+mj-lt"/>
              <a:buAutoNum type="arabicPeriod"/>
            </a:pPr>
            <a:r>
              <a:rPr lang="en-GB" i="1" dirty="0" smtClean="0">
                <a:solidFill>
                  <a:schemeClr val="accent1">
                    <a:lumMod val="75000"/>
                  </a:schemeClr>
                </a:solidFill>
              </a:rPr>
              <a:t>NAMUGANZA MARIA GORRET.</a:t>
            </a:r>
          </a:p>
          <a:p>
            <a:pPr marL="342900" indent="-342900">
              <a:buFont typeface="+mj-lt"/>
              <a:buAutoNum type="arabicPeriod"/>
            </a:pPr>
            <a:r>
              <a:rPr lang="en-GB" i="1" dirty="0" smtClean="0">
                <a:solidFill>
                  <a:schemeClr val="accent1">
                    <a:lumMod val="75000"/>
                  </a:schemeClr>
                </a:solidFill>
              </a:rPr>
              <a:t>KIBI DARIUS</a:t>
            </a:r>
            <a:r>
              <a:rPr lang="en-GB" i="1" dirty="0" smtClean="0">
                <a:solidFill>
                  <a:schemeClr val="accent1">
                    <a:lumMod val="75000"/>
                  </a:schemeClr>
                </a:solidFill>
              </a:rPr>
              <a:t>.</a:t>
            </a:r>
          </a:p>
          <a:p>
            <a:pPr marL="342900" indent="-342900">
              <a:buFont typeface="+mj-lt"/>
              <a:buAutoNum type="arabicPeriod"/>
            </a:pPr>
            <a:r>
              <a:rPr lang="en-GB" i="1" dirty="0" smtClean="0">
                <a:solidFill>
                  <a:schemeClr val="accent1">
                    <a:lumMod val="75000"/>
                  </a:schemeClr>
                </a:solidFill>
              </a:rPr>
              <a:t>JAKIRA JUMA FAHAD</a:t>
            </a:r>
            <a:endParaRPr lang="en-GB" i="1" dirty="0" smtClean="0">
              <a:solidFill>
                <a:schemeClr val="accent1">
                  <a:lumMod val="75000"/>
                </a:schemeClr>
              </a:solidFill>
            </a:endParaRPr>
          </a:p>
          <a:p>
            <a:pPr marL="342900" indent="-342900">
              <a:buFont typeface="+mj-lt"/>
              <a:buAutoNum type="arabicPeriod"/>
            </a:pPr>
            <a:endParaRPr lang="en-GB" dirty="0"/>
          </a:p>
        </p:txBody>
      </p:sp>
    </p:spTree>
    <p:extLst>
      <p:ext uri="{BB962C8B-B14F-4D97-AF65-F5344CB8AC3E}">
        <p14:creationId xmlns:p14="http://schemas.microsoft.com/office/powerpoint/2010/main" val="60711228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3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 calcmode="lin" valueType="num">
                                      <p:cBhvr>
                                        <p:cTn id="15" dur="1000" fill="hold"/>
                                        <p:tgtEl>
                                          <p:spTgt spid="6"/>
                                        </p:tgtEl>
                                        <p:attrNameLst>
                                          <p:attrName>style.rotation</p:attrName>
                                        </p:attrNameLst>
                                      </p:cBhvr>
                                      <p:tavLst>
                                        <p:tav tm="0">
                                          <p:val>
                                            <p:fltVal val="90"/>
                                          </p:val>
                                        </p:tav>
                                        <p:tav tm="100000">
                                          <p:val>
                                            <p:fltVal val="0"/>
                                          </p:val>
                                        </p:tav>
                                      </p:tavLst>
                                    </p:anim>
                                    <p:animEffect transition="in" filter="fade">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 calcmode="lin" valueType="num">
                                      <p:cBhvr additive="base">
                                        <p:cTn id="2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 calcmode="lin" valueType="num">
                                      <p:cBhvr additive="base">
                                        <p:cTn id="2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latin typeface="Arial Rounded MT Bold" panose="020F0704030504030204" pitchFamily="34" charset="0"/>
              </a:rPr>
              <a:t>HISTORY AND EVOLUTION OF </a:t>
            </a:r>
            <a:r>
              <a:rPr lang="en-GB" dirty="0" err="1" smtClean="0">
                <a:solidFill>
                  <a:srgbClr val="7030A0"/>
                </a:solidFill>
                <a:latin typeface="Arial Rounded MT Bold" panose="020F0704030504030204" pitchFamily="34" charset="0"/>
              </a:rPr>
              <a:t>IoT</a:t>
            </a:r>
            <a:endParaRPr lang="en-US" dirty="0">
              <a:solidFill>
                <a:srgbClr val="7030A0"/>
              </a:solidFill>
              <a:latin typeface="Arial Rounded MT Bold" panose="020F0704030504030204" pitchFamily="34" charset="0"/>
            </a:endParaRPr>
          </a:p>
        </p:txBody>
      </p:sp>
      <p:sp>
        <p:nvSpPr>
          <p:cNvPr id="3" name="Content Placeholder 2"/>
          <p:cNvSpPr>
            <a:spLocks noGrp="1"/>
          </p:cNvSpPr>
          <p:nvPr>
            <p:ph idx="1"/>
          </p:nvPr>
        </p:nvSpPr>
        <p:spPr>
          <a:xfrm>
            <a:off x="838200" y="1825624"/>
            <a:ext cx="10515600" cy="4887409"/>
          </a:xfrm>
        </p:spPr>
        <p:txBody>
          <a:bodyPr>
            <a:normAutofit/>
          </a:bodyPr>
          <a:lstStyle/>
          <a:p>
            <a:r>
              <a:rPr lang="en-GB" dirty="0"/>
              <a:t>The foundation of internet of things begun with the inversion of the internet itself in 1960s (ARPANET) which demonstrated how computers could exchange data across networks.</a:t>
            </a:r>
            <a:endParaRPr lang="en-US" dirty="0"/>
          </a:p>
          <a:p>
            <a:r>
              <a:rPr lang="en-GB" dirty="0" err="1"/>
              <a:t>IoT</a:t>
            </a:r>
            <a:r>
              <a:rPr lang="en-GB" dirty="0"/>
              <a:t> begun to gain popularity among early adopters and technology enthusiasts in the late 1990s and early 2000s. The first step in developing a commercial internet system was characterised by Amazon entry into online in 1995. The emergency EPAY online communication information discovery and safe transactions of further enhanced by innovations like hot mail, google search.</a:t>
            </a:r>
            <a:endParaRPr lang="en-US" dirty="0"/>
          </a:p>
          <a:p>
            <a:r>
              <a:rPr lang="en-GB" dirty="0"/>
              <a:t>The 2000s saw explosive growth with IPv6 addressing low-power protocols like ZigBee, and Cisco’s 2008 declaration of </a:t>
            </a:r>
            <a:r>
              <a:rPr lang="en-GB" dirty="0" err="1"/>
              <a:t>IoT’s</a:t>
            </a:r>
            <a:r>
              <a:rPr lang="en-GB" dirty="0"/>
              <a:t> “birth” as devices outnumbered people</a:t>
            </a:r>
            <a:r>
              <a:rPr lang="en-GB" dirty="0" smtClean="0"/>
              <a:t>.</a:t>
            </a:r>
          </a:p>
          <a:p>
            <a:r>
              <a:rPr lang="en-GB" dirty="0"/>
              <a:t>From 2010 onwards, adoption surged via cloud platforms, 5G, and AI integration powering applications like predictive maintenance and remote monitoring accelerated by COVID-19 pandemic. Yet challenges persist, cyber security vulnerable, and privacy risks. Looking ahead, </a:t>
            </a:r>
            <a:r>
              <a:rPr lang="en-GB" dirty="0" err="1"/>
              <a:t>IoT’s</a:t>
            </a:r>
            <a:r>
              <a:rPr lang="en-GB" dirty="0"/>
              <a:t> fusion with edge computing, 6G and block chain promises trillions of autonomous devices by 2030, fostering sustainable, intelligent </a:t>
            </a:r>
            <a:r>
              <a:rPr lang="en-GB" dirty="0" smtClean="0"/>
              <a:t>ecosystem.</a:t>
            </a:r>
            <a:endParaRPr lang="en-US" dirty="0"/>
          </a:p>
          <a:p>
            <a:pPr marL="0" indent="0">
              <a:buNone/>
            </a:pPr>
            <a:endParaRPr lang="en-US" dirty="0"/>
          </a:p>
        </p:txBody>
      </p:sp>
    </p:spTree>
    <p:extLst>
      <p:ext uri="{BB962C8B-B14F-4D97-AF65-F5344CB8AC3E}">
        <p14:creationId xmlns:p14="http://schemas.microsoft.com/office/powerpoint/2010/main" val="21634002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p:cTn id="2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3">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 calcmode="lin" valueType="num">
                                      <p:cBhvr>
                                        <p:cTn id="3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3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3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6" dur="1000"/>
                                        <p:tgtEl>
                                          <p:spTgt spid="3">
                                            <p:txEl>
                                              <p:pRg st="1" end="1"/>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grpId="0" nodeType="click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 calcmode="lin" valueType="num">
                                      <p:cBhvr>
                                        <p:cTn id="4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4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4" dur="1000"/>
                                        <p:tgtEl>
                                          <p:spTgt spid="3">
                                            <p:txEl>
                                              <p:pRg st="2" end="2"/>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childTnLst>
                                    <p:set>
                                      <p:cBhvr>
                                        <p:cTn id="48" dur="1" fill="hold">
                                          <p:stCondLst>
                                            <p:cond delay="0"/>
                                          </p:stCondLst>
                                        </p:cTn>
                                        <p:tgtEl>
                                          <p:spTgt spid="3">
                                            <p:txEl>
                                              <p:pRg st="3" end="3"/>
                                            </p:txEl>
                                          </p:spTgt>
                                        </p:tgtEl>
                                        <p:attrNameLst>
                                          <p:attrName>style.visibility</p:attrName>
                                        </p:attrNameLst>
                                      </p:cBhvr>
                                      <p:to>
                                        <p:strVal val="visible"/>
                                      </p:to>
                                    </p:set>
                                    <p:anim calcmode="lin" valueType="num">
                                      <p:cBhvr>
                                        <p:cTn id="4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5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5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rPr>
              <a:t>HOW </a:t>
            </a:r>
            <a:r>
              <a:rPr lang="en-GB" dirty="0" err="1" smtClean="0">
                <a:solidFill>
                  <a:srgbClr val="7030A0"/>
                </a:solidFill>
              </a:rPr>
              <a:t>IoT</a:t>
            </a:r>
            <a:r>
              <a:rPr lang="en-GB" dirty="0" smtClean="0">
                <a:solidFill>
                  <a:srgbClr val="7030A0"/>
                </a:solidFill>
              </a:rPr>
              <a:t> WORKS.</a:t>
            </a:r>
            <a:endParaRPr lang="en-US" dirty="0">
              <a:solidFill>
                <a:srgbClr val="7030A0"/>
              </a:solidFill>
            </a:endParaRPr>
          </a:p>
        </p:txBody>
      </p:sp>
      <p:sp>
        <p:nvSpPr>
          <p:cNvPr id="3" name="Content Placeholder 2"/>
          <p:cNvSpPr>
            <a:spLocks noGrp="1"/>
          </p:cNvSpPr>
          <p:nvPr>
            <p:ph idx="1"/>
          </p:nvPr>
        </p:nvSpPr>
        <p:spPr/>
        <p:txBody>
          <a:bodyPr>
            <a:normAutofit/>
          </a:bodyPr>
          <a:lstStyle/>
          <a:p>
            <a:r>
              <a:rPr lang="en-GB" dirty="0" err="1"/>
              <a:t>IoT</a:t>
            </a:r>
            <a:r>
              <a:rPr lang="en-GB" dirty="0"/>
              <a:t> works by gathering data from sensors embedded in </a:t>
            </a:r>
            <a:r>
              <a:rPr lang="en-GB" dirty="0" err="1"/>
              <a:t>IoT</a:t>
            </a:r>
            <a:r>
              <a:rPr lang="en-GB" dirty="0"/>
              <a:t> devices which is then transmitted through an </a:t>
            </a:r>
            <a:r>
              <a:rPr lang="en-GB" dirty="0" err="1"/>
              <a:t>IoT</a:t>
            </a:r>
            <a:r>
              <a:rPr lang="en-GB" dirty="0"/>
              <a:t> gateway for analysis by an application or back-end system.</a:t>
            </a:r>
            <a:endParaRPr lang="en-US" dirty="0"/>
          </a:p>
          <a:p>
            <a:r>
              <a:rPr lang="en-GB" i="1" dirty="0"/>
              <a:t>Sensors or devices;</a:t>
            </a:r>
            <a:endParaRPr lang="en-US" dirty="0"/>
          </a:p>
          <a:p>
            <a:r>
              <a:rPr lang="en-GB" dirty="0"/>
              <a:t>An </a:t>
            </a:r>
            <a:r>
              <a:rPr lang="en-GB" dirty="0" err="1"/>
              <a:t>IoT</a:t>
            </a:r>
            <a:r>
              <a:rPr lang="en-GB" dirty="0"/>
              <a:t> ecosystem consists of web-enabled smart devices that use embedded devices such as processors to collect, send and act on data acquired from their environments.</a:t>
            </a:r>
            <a:endParaRPr lang="en-US" dirty="0"/>
          </a:p>
          <a:p>
            <a:r>
              <a:rPr lang="en-GB" i="1" dirty="0"/>
              <a:t>Connectivity;</a:t>
            </a:r>
            <a:endParaRPr lang="en-US" dirty="0"/>
          </a:p>
          <a:p>
            <a:r>
              <a:rPr lang="en-GB" dirty="0" err="1"/>
              <a:t>IoT</a:t>
            </a:r>
            <a:r>
              <a:rPr lang="en-GB" dirty="0"/>
              <a:t> devices can communicate with one another through a network over the internet. These devices share sensor data by connecting to an </a:t>
            </a:r>
            <a:r>
              <a:rPr lang="en-GB" dirty="0" err="1"/>
              <a:t>IoT</a:t>
            </a:r>
            <a:r>
              <a:rPr lang="en-GB" dirty="0"/>
              <a:t> gateway, which acts a central hub where </a:t>
            </a:r>
            <a:r>
              <a:rPr lang="en-GB" dirty="0" err="1"/>
              <a:t>IoT</a:t>
            </a:r>
            <a:r>
              <a:rPr lang="en-GB" dirty="0"/>
              <a:t> devices can send data.</a:t>
            </a:r>
            <a:endParaRPr lang="en-US" dirty="0"/>
          </a:p>
          <a:p>
            <a:endParaRPr lang="en-GB" dirty="0" smtClean="0"/>
          </a:p>
          <a:p>
            <a:endParaRPr lang="en-GB" dirty="0"/>
          </a:p>
          <a:p>
            <a:endParaRPr lang="en-US" dirty="0"/>
          </a:p>
        </p:txBody>
      </p:sp>
    </p:spTree>
    <p:extLst>
      <p:ext uri="{BB962C8B-B14F-4D97-AF65-F5344CB8AC3E}">
        <p14:creationId xmlns:p14="http://schemas.microsoft.com/office/powerpoint/2010/main" val="2138213640"/>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1000"/>
                                        <p:tgtEl>
                                          <p:spTgt spid="3">
                                            <p:txEl>
                                              <p:pRg st="3" end="3"/>
                                            </p:txEl>
                                          </p:spTgt>
                                        </p:tgtEl>
                                      </p:cBhvr>
                                    </p:animEffect>
                                    <p:anim calcmode="lin" valueType="num">
                                      <p:cBhvr>
                                        <p:cTn id="3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1000"/>
                                        <p:tgtEl>
                                          <p:spTgt spid="3">
                                            <p:txEl>
                                              <p:pRg st="4" end="4"/>
                                            </p:txEl>
                                          </p:spTgt>
                                        </p:tgtEl>
                                      </p:cBhvr>
                                    </p:animEffect>
                                    <p:anim calcmode="lin" valueType="num">
                                      <p:cBhvr>
                                        <p:cTn id="4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latin typeface="Artifakt Element Heavy" panose="020B0B03050000020004" pitchFamily="34" charset="0"/>
                <a:ea typeface="Artifakt Element Heavy" panose="020B0B03050000020004" pitchFamily="34" charset="0"/>
              </a:rPr>
              <a:t> </a:t>
            </a:r>
            <a:r>
              <a:rPr lang="en-GB" dirty="0" err="1">
                <a:solidFill>
                  <a:srgbClr val="7030A0"/>
                </a:solidFill>
                <a:latin typeface="Artifakt Element Heavy" panose="020B0B03050000020004" pitchFamily="34" charset="0"/>
                <a:ea typeface="Artifakt Element Heavy" panose="020B0B03050000020004" pitchFamily="34" charset="0"/>
              </a:rPr>
              <a:t>C</a:t>
            </a:r>
            <a:r>
              <a:rPr lang="en-GB" dirty="0" err="1" smtClean="0">
                <a:solidFill>
                  <a:srgbClr val="7030A0"/>
                </a:solidFill>
                <a:latin typeface="Artifakt Element Heavy" panose="020B0B03050000020004" pitchFamily="34" charset="0"/>
                <a:ea typeface="Artifakt Element Heavy" panose="020B0B03050000020004" pitchFamily="34" charset="0"/>
              </a:rPr>
              <a:t>ontn</a:t>
            </a:r>
            <a:r>
              <a:rPr lang="en-GB" dirty="0" smtClean="0">
                <a:solidFill>
                  <a:srgbClr val="7030A0"/>
                </a:solidFill>
                <a:latin typeface="Artifakt Element Heavy" panose="020B0B03050000020004" pitchFamily="34" charset="0"/>
                <a:ea typeface="Artifakt Element Heavy" panose="020B0B03050000020004" pitchFamily="34" charset="0"/>
              </a:rPr>
              <a:t>...</a:t>
            </a:r>
            <a:endParaRPr lang="en-US" dirty="0">
              <a:solidFill>
                <a:srgbClr val="7030A0"/>
              </a:solidFill>
              <a:latin typeface="Artifakt Element Heavy" panose="020B0B03050000020004" pitchFamily="34" charset="0"/>
              <a:ea typeface="Artifakt Element Heavy" panose="020B0B03050000020004" pitchFamily="34" charset="0"/>
            </a:endParaRPr>
          </a:p>
        </p:txBody>
      </p:sp>
      <p:sp>
        <p:nvSpPr>
          <p:cNvPr id="3" name="Content Placeholder 2"/>
          <p:cNvSpPr>
            <a:spLocks noGrp="1"/>
          </p:cNvSpPr>
          <p:nvPr>
            <p:ph idx="1"/>
          </p:nvPr>
        </p:nvSpPr>
        <p:spPr>
          <a:xfrm>
            <a:off x="1259175" y="1264555"/>
            <a:ext cx="8915400" cy="3777622"/>
          </a:xfrm>
        </p:spPr>
        <p:txBody>
          <a:bodyPr/>
          <a:lstStyle/>
          <a:p>
            <a:r>
              <a:rPr lang="en-GB" i="1" dirty="0"/>
              <a:t>Data analysis;</a:t>
            </a:r>
            <a:endParaRPr lang="en-US" dirty="0"/>
          </a:p>
          <a:p>
            <a:pPr marL="0" indent="0">
              <a:buNone/>
            </a:pPr>
            <a:r>
              <a:rPr lang="en-GB" dirty="0" smtClean="0"/>
              <a:t> Only </a:t>
            </a:r>
            <a:r>
              <a:rPr lang="en-GB" dirty="0"/>
              <a:t>the relevant data is used to identify patterns, offer recommendation s and identify potential issues before they escalate.</a:t>
            </a:r>
            <a:endParaRPr lang="en-US" dirty="0"/>
          </a:p>
          <a:p>
            <a:r>
              <a:rPr lang="en-GB" i="1" dirty="0"/>
              <a:t>Graphical User Interface;</a:t>
            </a:r>
            <a:endParaRPr lang="en-US" dirty="0"/>
          </a:p>
          <a:p>
            <a:r>
              <a:rPr lang="en-GB" dirty="0"/>
              <a:t>A graphical user interface is typically used to manage </a:t>
            </a:r>
            <a:r>
              <a:rPr lang="en-GB" dirty="0" err="1"/>
              <a:t>IoT</a:t>
            </a:r>
            <a:r>
              <a:rPr lang="en-GB" dirty="0"/>
              <a:t> devices for example a website can be used as a UI to manage, control and register smart devices</a:t>
            </a:r>
            <a:endParaRPr lang="en-US" dirty="0"/>
          </a:p>
        </p:txBody>
      </p:sp>
    </p:spTree>
    <p:extLst>
      <p:ext uri="{BB962C8B-B14F-4D97-AF65-F5344CB8AC3E}">
        <p14:creationId xmlns:p14="http://schemas.microsoft.com/office/powerpoint/2010/main" val="32720567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3747" y="4008583"/>
            <a:ext cx="4333730" cy="3165517"/>
          </a:xfrm>
          <a:prstGeom prst="rect">
            <a:avLst/>
          </a:prstGeom>
        </p:spPr>
      </p:pic>
      <p:sp>
        <p:nvSpPr>
          <p:cNvPr id="2" name="Title 1"/>
          <p:cNvSpPr>
            <a:spLocks noGrp="1"/>
          </p:cNvSpPr>
          <p:nvPr>
            <p:ph type="title"/>
          </p:nvPr>
        </p:nvSpPr>
        <p:spPr/>
        <p:txBody>
          <a:bodyPr/>
          <a:lstStyle/>
          <a:p>
            <a:r>
              <a:rPr lang="en-GB" dirty="0" smtClean="0">
                <a:solidFill>
                  <a:srgbClr val="7030A0"/>
                </a:solidFill>
                <a:latin typeface="Arial" panose="020B0604020202020204" pitchFamily="34" charset="0"/>
                <a:cs typeface="Arial" panose="020B0604020202020204" pitchFamily="34" charset="0"/>
              </a:rPr>
              <a:t>APPLICATIONS OF </a:t>
            </a:r>
            <a:r>
              <a:rPr lang="en-GB" dirty="0" err="1" smtClean="0">
                <a:solidFill>
                  <a:srgbClr val="7030A0"/>
                </a:solidFill>
                <a:latin typeface="Arial" panose="020B0604020202020204" pitchFamily="34" charset="0"/>
                <a:cs typeface="Arial" panose="020B0604020202020204" pitchFamily="34" charset="0"/>
              </a:rPr>
              <a:t>IoT</a:t>
            </a:r>
            <a:r>
              <a:rPr lang="en-GB" dirty="0" smtClean="0">
                <a:solidFill>
                  <a:srgbClr val="7030A0"/>
                </a:solidFill>
                <a:latin typeface="Arial" panose="020B0604020202020204" pitchFamily="34" charset="0"/>
                <a:cs typeface="Arial" panose="020B0604020202020204" pitchFamily="34" charset="0"/>
              </a:rPr>
              <a:t>.</a:t>
            </a:r>
            <a:endParaRPr lang="en-US"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1065212" y="1264554"/>
            <a:ext cx="8915400" cy="6263081"/>
          </a:xfrm>
        </p:spPr>
        <p:txBody>
          <a:bodyPr>
            <a:normAutofit/>
          </a:bodyPr>
          <a:lstStyle/>
          <a:p>
            <a:pPr lvl="0"/>
            <a:r>
              <a:rPr lang="en-GB" dirty="0"/>
              <a:t>Smart homes: Automated lighting, climate control and security system enhance convenience, efficiency and safety.</a:t>
            </a:r>
            <a:endParaRPr lang="en-US" dirty="0"/>
          </a:p>
          <a:p>
            <a:pPr lvl="0"/>
            <a:r>
              <a:rPr lang="en-GB" dirty="0"/>
              <a:t>Wearable technology; Devices like fitness trackers and medical sensors monitor personal health data.</a:t>
            </a:r>
            <a:endParaRPr lang="en-US" dirty="0"/>
          </a:p>
          <a:p>
            <a:pPr lvl="0"/>
            <a:r>
              <a:rPr lang="en-GB" dirty="0"/>
              <a:t>Industrial automation: In manufacturing, </a:t>
            </a:r>
            <a:r>
              <a:rPr lang="en-GB" dirty="0" err="1"/>
              <a:t>ioT</a:t>
            </a:r>
            <a:r>
              <a:rPr lang="en-GB" dirty="0"/>
              <a:t> is used for machine monitoring quality, control and asset tracking.</a:t>
            </a:r>
            <a:endParaRPr lang="en-US" dirty="0"/>
          </a:p>
          <a:p>
            <a:pPr lvl="0"/>
            <a:r>
              <a:rPr lang="en-GB" dirty="0"/>
              <a:t>Retail; </a:t>
            </a:r>
            <a:r>
              <a:rPr lang="en-GB" dirty="0" err="1"/>
              <a:t>IoT</a:t>
            </a:r>
            <a:r>
              <a:rPr lang="en-GB" dirty="0"/>
              <a:t> sensors track customer behaviours, optimise inventory and personalise marketing.</a:t>
            </a:r>
            <a:endParaRPr lang="en-US" dirty="0"/>
          </a:p>
          <a:p>
            <a:pPr lvl="0"/>
            <a:r>
              <a:rPr lang="en-GB" dirty="0"/>
              <a:t>Healthcare; remote patient monitoring, smart medical devices and medication trackers allow for continuous health management.</a:t>
            </a:r>
            <a:endParaRPr lang="en-US" dirty="0"/>
          </a:p>
          <a:p>
            <a:pPr lvl="0"/>
            <a:r>
              <a:rPr lang="en-GB" dirty="0"/>
              <a:t>Energy management; Smart grids and smart lighting systems help monitor and reduce energy consumption.</a:t>
            </a:r>
            <a:endParaRPr lang="en-US" dirty="0"/>
          </a:p>
          <a:p>
            <a:endParaRPr lang="en-US" dirty="0"/>
          </a:p>
        </p:txBody>
      </p:sp>
    </p:spTree>
    <p:extLst>
      <p:ext uri="{BB962C8B-B14F-4D97-AF65-F5344CB8AC3E}">
        <p14:creationId xmlns:p14="http://schemas.microsoft.com/office/powerpoint/2010/main" val="136800536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4" presetClass="emph" presetSubtype="0" fill="hold" grpId="0" nodeType="clickEffect">
                                  <p:stCondLst>
                                    <p:cond delay="0"/>
                                  </p:stCondLst>
                                  <p:iterate type="lt">
                                    <p:tmPct val="10000"/>
                                  </p:iterate>
                                  <p:childTnLst>
                                    <p:animMotion origin="layout" path="M 0.0 0.0 L 0.0 -0.07213" pathEditMode="relative" ptsTypes="">
                                      <p:cBhvr>
                                        <p:cTn id="11" dur="250" accel="50000" decel="50000" autoRev="1" fill="hold">
                                          <p:stCondLst>
                                            <p:cond delay="0"/>
                                          </p:stCondLst>
                                        </p:cTn>
                                        <p:tgtEl>
                                          <p:spTgt spid="3">
                                            <p:txEl>
                                              <p:pRg st="0" end="0"/>
                                            </p:txEl>
                                          </p:spTgt>
                                        </p:tgtEl>
                                        <p:attrNameLst>
                                          <p:attrName>ppt_x</p:attrName>
                                          <p:attrName>ppt_y</p:attrName>
                                        </p:attrNameLst>
                                      </p:cBhvr>
                                    </p:animMotion>
                                    <p:animRot by="1500000">
                                      <p:cBhvr>
                                        <p:cTn id="12" dur="125" fill="hold">
                                          <p:stCondLst>
                                            <p:cond delay="0"/>
                                          </p:stCondLst>
                                        </p:cTn>
                                        <p:tgtEl>
                                          <p:spTgt spid="3">
                                            <p:txEl>
                                              <p:pRg st="0" end="0"/>
                                            </p:txEl>
                                          </p:spTgt>
                                        </p:tgtEl>
                                        <p:attrNameLst>
                                          <p:attrName>r</p:attrName>
                                        </p:attrNameLst>
                                      </p:cBhvr>
                                    </p:animRot>
                                    <p:animRot by="-1500000">
                                      <p:cBhvr>
                                        <p:cTn id="13" dur="125" fill="hold">
                                          <p:stCondLst>
                                            <p:cond delay="125"/>
                                          </p:stCondLst>
                                        </p:cTn>
                                        <p:tgtEl>
                                          <p:spTgt spid="3">
                                            <p:txEl>
                                              <p:pRg st="0" end="0"/>
                                            </p:txEl>
                                          </p:spTgt>
                                        </p:tgtEl>
                                        <p:attrNameLst>
                                          <p:attrName>r</p:attrName>
                                        </p:attrNameLst>
                                      </p:cBhvr>
                                    </p:animRot>
                                    <p:animRot by="-1500000">
                                      <p:cBhvr>
                                        <p:cTn id="14" dur="125" fill="hold">
                                          <p:stCondLst>
                                            <p:cond delay="250"/>
                                          </p:stCondLst>
                                        </p:cTn>
                                        <p:tgtEl>
                                          <p:spTgt spid="3">
                                            <p:txEl>
                                              <p:pRg st="0" end="0"/>
                                            </p:txEl>
                                          </p:spTgt>
                                        </p:tgtEl>
                                        <p:attrNameLst>
                                          <p:attrName>r</p:attrName>
                                        </p:attrNameLst>
                                      </p:cBhvr>
                                    </p:animRot>
                                    <p:animRot by="1500000">
                                      <p:cBhvr>
                                        <p:cTn id="15" dur="125" fill="hold">
                                          <p:stCondLst>
                                            <p:cond delay="375"/>
                                          </p:stCondLst>
                                        </p:cTn>
                                        <p:tgtEl>
                                          <p:spTgt spid="3">
                                            <p:txEl>
                                              <p:pRg st="0" end="0"/>
                                            </p:txEl>
                                          </p:spTgt>
                                        </p:tgtEl>
                                        <p:attrNameLst>
                                          <p:attrName>r</p:attrName>
                                        </p:attrNameLst>
                                      </p:cBhvr>
                                    </p:animRot>
                                  </p:childTnLst>
                                </p:cTn>
                              </p:par>
                            </p:childTnLst>
                          </p:cTn>
                        </p:par>
                      </p:childTnLst>
                    </p:cTn>
                  </p:par>
                  <p:par>
                    <p:cTn id="16" fill="hold">
                      <p:stCondLst>
                        <p:cond delay="indefinite"/>
                      </p:stCondLst>
                      <p:childTnLst>
                        <p:par>
                          <p:cTn id="17" fill="hold">
                            <p:stCondLst>
                              <p:cond delay="0"/>
                            </p:stCondLst>
                            <p:childTnLst>
                              <p:par>
                                <p:cTn id="18" presetID="34" presetClass="emph" presetSubtype="0" fill="hold" grpId="0" nodeType="clickEffect">
                                  <p:stCondLst>
                                    <p:cond delay="0"/>
                                  </p:stCondLst>
                                  <p:iterate type="lt">
                                    <p:tmPct val="10000"/>
                                  </p:iterate>
                                  <p:childTnLst>
                                    <p:animMotion origin="layout" path="M 0.0 0.0 L 0.0 -0.07213" pathEditMode="relative" ptsTypes="">
                                      <p:cBhvr>
                                        <p:cTn id="19" dur="250" accel="50000" decel="50000" autoRev="1" fill="hold">
                                          <p:stCondLst>
                                            <p:cond delay="0"/>
                                          </p:stCondLst>
                                        </p:cTn>
                                        <p:tgtEl>
                                          <p:spTgt spid="3">
                                            <p:txEl>
                                              <p:pRg st="1" end="1"/>
                                            </p:txEl>
                                          </p:spTgt>
                                        </p:tgtEl>
                                        <p:attrNameLst>
                                          <p:attrName>ppt_x</p:attrName>
                                          <p:attrName>ppt_y</p:attrName>
                                        </p:attrNameLst>
                                      </p:cBhvr>
                                    </p:animMotion>
                                    <p:animRot by="1500000">
                                      <p:cBhvr>
                                        <p:cTn id="20" dur="125" fill="hold">
                                          <p:stCondLst>
                                            <p:cond delay="0"/>
                                          </p:stCondLst>
                                        </p:cTn>
                                        <p:tgtEl>
                                          <p:spTgt spid="3">
                                            <p:txEl>
                                              <p:pRg st="1" end="1"/>
                                            </p:txEl>
                                          </p:spTgt>
                                        </p:tgtEl>
                                        <p:attrNameLst>
                                          <p:attrName>r</p:attrName>
                                        </p:attrNameLst>
                                      </p:cBhvr>
                                    </p:animRot>
                                    <p:animRot by="-1500000">
                                      <p:cBhvr>
                                        <p:cTn id="21" dur="125" fill="hold">
                                          <p:stCondLst>
                                            <p:cond delay="125"/>
                                          </p:stCondLst>
                                        </p:cTn>
                                        <p:tgtEl>
                                          <p:spTgt spid="3">
                                            <p:txEl>
                                              <p:pRg st="1" end="1"/>
                                            </p:txEl>
                                          </p:spTgt>
                                        </p:tgtEl>
                                        <p:attrNameLst>
                                          <p:attrName>r</p:attrName>
                                        </p:attrNameLst>
                                      </p:cBhvr>
                                    </p:animRot>
                                    <p:animRot by="-1500000">
                                      <p:cBhvr>
                                        <p:cTn id="22" dur="125" fill="hold">
                                          <p:stCondLst>
                                            <p:cond delay="250"/>
                                          </p:stCondLst>
                                        </p:cTn>
                                        <p:tgtEl>
                                          <p:spTgt spid="3">
                                            <p:txEl>
                                              <p:pRg st="1" end="1"/>
                                            </p:txEl>
                                          </p:spTgt>
                                        </p:tgtEl>
                                        <p:attrNameLst>
                                          <p:attrName>r</p:attrName>
                                        </p:attrNameLst>
                                      </p:cBhvr>
                                    </p:animRot>
                                    <p:animRot by="1500000">
                                      <p:cBhvr>
                                        <p:cTn id="23" dur="125" fill="hold">
                                          <p:stCondLst>
                                            <p:cond delay="375"/>
                                          </p:stCondLst>
                                        </p:cTn>
                                        <p:tgtEl>
                                          <p:spTgt spid="3">
                                            <p:txEl>
                                              <p:pRg st="1" end="1"/>
                                            </p:txEl>
                                          </p:spTgt>
                                        </p:tgtEl>
                                        <p:attrNameLst>
                                          <p:attrName>r</p:attrName>
                                        </p:attrNameLst>
                                      </p:cBhvr>
                                    </p:animRot>
                                  </p:childTnLst>
                                </p:cTn>
                              </p:par>
                            </p:childTnLst>
                          </p:cTn>
                        </p:par>
                      </p:childTnLst>
                    </p:cTn>
                  </p:par>
                  <p:par>
                    <p:cTn id="24" fill="hold">
                      <p:stCondLst>
                        <p:cond delay="indefinite"/>
                      </p:stCondLst>
                      <p:childTnLst>
                        <p:par>
                          <p:cTn id="25" fill="hold">
                            <p:stCondLst>
                              <p:cond delay="0"/>
                            </p:stCondLst>
                            <p:childTnLst>
                              <p:par>
                                <p:cTn id="26" presetID="34" presetClass="emph" presetSubtype="0" fill="hold" grpId="0" nodeType="clickEffect">
                                  <p:stCondLst>
                                    <p:cond delay="0"/>
                                  </p:stCondLst>
                                  <p:iterate type="lt">
                                    <p:tmPct val="10000"/>
                                  </p:iterate>
                                  <p:childTnLst>
                                    <p:animMotion origin="layout" path="M 0.0 0.0 L 0.0 -0.07213" pathEditMode="relative" ptsTypes="">
                                      <p:cBhvr>
                                        <p:cTn id="27" dur="250" accel="50000" decel="50000" autoRev="1" fill="hold">
                                          <p:stCondLst>
                                            <p:cond delay="0"/>
                                          </p:stCondLst>
                                        </p:cTn>
                                        <p:tgtEl>
                                          <p:spTgt spid="3">
                                            <p:txEl>
                                              <p:pRg st="2" end="2"/>
                                            </p:txEl>
                                          </p:spTgt>
                                        </p:tgtEl>
                                        <p:attrNameLst>
                                          <p:attrName>ppt_x</p:attrName>
                                          <p:attrName>ppt_y</p:attrName>
                                        </p:attrNameLst>
                                      </p:cBhvr>
                                    </p:animMotion>
                                    <p:animRot by="1500000">
                                      <p:cBhvr>
                                        <p:cTn id="28" dur="125" fill="hold">
                                          <p:stCondLst>
                                            <p:cond delay="0"/>
                                          </p:stCondLst>
                                        </p:cTn>
                                        <p:tgtEl>
                                          <p:spTgt spid="3">
                                            <p:txEl>
                                              <p:pRg st="2" end="2"/>
                                            </p:txEl>
                                          </p:spTgt>
                                        </p:tgtEl>
                                        <p:attrNameLst>
                                          <p:attrName>r</p:attrName>
                                        </p:attrNameLst>
                                      </p:cBhvr>
                                    </p:animRot>
                                    <p:animRot by="-1500000">
                                      <p:cBhvr>
                                        <p:cTn id="29" dur="125" fill="hold">
                                          <p:stCondLst>
                                            <p:cond delay="125"/>
                                          </p:stCondLst>
                                        </p:cTn>
                                        <p:tgtEl>
                                          <p:spTgt spid="3">
                                            <p:txEl>
                                              <p:pRg st="2" end="2"/>
                                            </p:txEl>
                                          </p:spTgt>
                                        </p:tgtEl>
                                        <p:attrNameLst>
                                          <p:attrName>r</p:attrName>
                                        </p:attrNameLst>
                                      </p:cBhvr>
                                    </p:animRot>
                                    <p:animRot by="-1500000">
                                      <p:cBhvr>
                                        <p:cTn id="30" dur="125" fill="hold">
                                          <p:stCondLst>
                                            <p:cond delay="250"/>
                                          </p:stCondLst>
                                        </p:cTn>
                                        <p:tgtEl>
                                          <p:spTgt spid="3">
                                            <p:txEl>
                                              <p:pRg st="2" end="2"/>
                                            </p:txEl>
                                          </p:spTgt>
                                        </p:tgtEl>
                                        <p:attrNameLst>
                                          <p:attrName>r</p:attrName>
                                        </p:attrNameLst>
                                      </p:cBhvr>
                                    </p:animRot>
                                    <p:animRot by="1500000">
                                      <p:cBhvr>
                                        <p:cTn id="31" dur="125" fill="hold">
                                          <p:stCondLst>
                                            <p:cond delay="375"/>
                                          </p:stCondLst>
                                        </p:cTn>
                                        <p:tgtEl>
                                          <p:spTgt spid="3">
                                            <p:txEl>
                                              <p:pRg st="2" end="2"/>
                                            </p:txEl>
                                          </p:spTgt>
                                        </p:tgtEl>
                                        <p:attrNameLst>
                                          <p:attrName>r</p:attrName>
                                        </p:attrNameLst>
                                      </p:cBhvr>
                                    </p:animRot>
                                  </p:childTnLst>
                                </p:cTn>
                              </p:par>
                            </p:childTnLst>
                          </p:cTn>
                        </p:par>
                      </p:childTnLst>
                    </p:cTn>
                  </p:par>
                  <p:par>
                    <p:cTn id="32" fill="hold">
                      <p:stCondLst>
                        <p:cond delay="indefinite"/>
                      </p:stCondLst>
                      <p:childTnLst>
                        <p:par>
                          <p:cTn id="33" fill="hold">
                            <p:stCondLst>
                              <p:cond delay="0"/>
                            </p:stCondLst>
                            <p:childTnLst>
                              <p:par>
                                <p:cTn id="34" presetID="34" presetClass="emph" presetSubtype="0" fill="hold" grpId="0" nodeType="clickEffect">
                                  <p:stCondLst>
                                    <p:cond delay="0"/>
                                  </p:stCondLst>
                                  <p:iterate type="lt">
                                    <p:tmPct val="10000"/>
                                  </p:iterate>
                                  <p:childTnLst>
                                    <p:animMotion origin="layout" path="M 0.0 0.0 L 0.0 -0.07213" pathEditMode="relative" ptsTypes="">
                                      <p:cBhvr>
                                        <p:cTn id="35" dur="250" accel="50000" decel="50000" autoRev="1" fill="hold">
                                          <p:stCondLst>
                                            <p:cond delay="0"/>
                                          </p:stCondLst>
                                        </p:cTn>
                                        <p:tgtEl>
                                          <p:spTgt spid="3">
                                            <p:txEl>
                                              <p:pRg st="3" end="3"/>
                                            </p:txEl>
                                          </p:spTgt>
                                        </p:tgtEl>
                                        <p:attrNameLst>
                                          <p:attrName>ppt_x</p:attrName>
                                          <p:attrName>ppt_y</p:attrName>
                                        </p:attrNameLst>
                                      </p:cBhvr>
                                    </p:animMotion>
                                    <p:animRot by="1500000">
                                      <p:cBhvr>
                                        <p:cTn id="36" dur="125" fill="hold">
                                          <p:stCondLst>
                                            <p:cond delay="0"/>
                                          </p:stCondLst>
                                        </p:cTn>
                                        <p:tgtEl>
                                          <p:spTgt spid="3">
                                            <p:txEl>
                                              <p:pRg st="3" end="3"/>
                                            </p:txEl>
                                          </p:spTgt>
                                        </p:tgtEl>
                                        <p:attrNameLst>
                                          <p:attrName>r</p:attrName>
                                        </p:attrNameLst>
                                      </p:cBhvr>
                                    </p:animRot>
                                    <p:animRot by="-1500000">
                                      <p:cBhvr>
                                        <p:cTn id="37" dur="125" fill="hold">
                                          <p:stCondLst>
                                            <p:cond delay="125"/>
                                          </p:stCondLst>
                                        </p:cTn>
                                        <p:tgtEl>
                                          <p:spTgt spid="3">
                                            <p:txEl>
                                              <p:pRg st="3" end="3"/>
                                            </p:txEl>
                                          </p:spTgt>
                                        </p:tgtEl>
                                        <p:attrNameLst>
                                          <p:attrName>r</p:attrName>
                                        </p:attrNameLst>
                                      </p:cBhvr>
                                    </p:animRot>
                                    <p:animRot by="-1500000">
                                      <p:cBhvr>
                                        <p:cTn id="38" dur="125" fill="hold">
                                          <p:stCondLst>
                                            <p:cond delay="250"/>
                                          </p:stCondLst>
                                        </p:cTn>
                                        <p:tgtEl>
                                          <p:spTgt spid="3">
                                            <p:txEl>
                                              <p:pRg st="3" end="3"/>
                                            </p:txEl>
                                          </p:spTgt>
                                        </p:tgtEl>
                                        <p:attrNameLst>
                                          <p:attrName>r</p:attrName>
                                        </p:attrNameLst>
                                      </p:cBhvr>
                                    </p:animRot>
                                    <p:animRot by="1500000">
                                      <p:cBhvr>
                                        <p:cTn id="39" dur="125" fill="hold">
                                          <p:stCondLst>
                                            <p:cond delay="375"/>
                                          </p:stCondLst>
                                        </p:cTn>
                                        <p:tgtEl>
                                          <p:spTgt spid="3">
                                            <p:txEl>
                                              <p:pRg st="3" end="3"/>
                                            </p:txEl>
                                          </p:spTgt>
                                        </p:tgtEl>
                                        <p:attrNameLst>
                                          <p:attrName>r</p:attrName>
                                        </p:attrNameLst>
                                      </p:cBhvr>
                                    </p:animRot>
                                  </p:childTnLst>
                                </p:cTn>
                              </p:par>
                            </p:childTnLst>
                          </p:cTn>
                        </p:par>
                      </p:childTnLst>
                    </p:cTn>
                  </p:par>
                  <p:par>
                    <p:cTn id="40" fill="hold">
                      <p:stCondLst>
                        <p:cond delay="indefinite"/>
                      </p:stCondLst>
                      <p:childTnLst>
                        <p:par>
                          <p:cTn id="41" fill="hold">
                            <p:stCondLst>
                              <p:cond delay="0"/>
                            </p:stCondLst>
                            <p:childTnLst>
                              <p:par>
                                <p:cTn id="42" presetID="34" presetClass="emph" presetSubtype="0" fill="hold" grpId="0" nodeType="clickEffect">
                                  <p:stCondLst>
                                    <p:cond delay="0"/>
                                  </p:stCondLst>
                                  <p:iterate type="lt">
                                    <p:tmPct val="10000"/>
                                  </p:iterate>
                                  <p:childTnLst>
                                    <p:animMotion origin="layout" path="M 0.0 0.0 L 0.0 -0.07213" pathEditMode="relative" ptsTypes="">
                                      <p:cBhvr>
                                        <p:cTn id="43" dur="250" accel="50000" decel="50000" autoRev="1" fill="hold">
                                          <p:stCondLst>
                                            <p:cond delay="0"/>
                                          </p:stCondLst>
                                        </p:cTn>
                                        <p:tgtEl>
                                          <p:spTgt spid="3">
                                            <p:txEl>
                                              <p:pRg st="4" end="4"/>
                                            </p:txEl>
                                          </p:spTgt>
                                        </p:tgtEl>
                                        <p:attrNameLst>
                                          <p:attrName>ppt_x</p:attrName>
                                          <p:attrName>ppt_y</p:attrName>
                                        </p:attrNameLst>
                                      </p:cBhvr>
                                    </p:animMotion>
                                    <p:animRot by="1500000">
                                      <p:cBhvr>
                                        <p:cTn id="44" dur="125" fill="hold">
                                          <p:stCondLst>
                                            <p:cond delay="0"/>
                                          </p:stCondLst>
                                        </p:cTn>
                                        <p:tgtEl>
                                          <p:spTgt spid="3">
                                            <p:txEl>
                                              <p:pRg st="4" end="4"/>
                                            </p:txEl>
                                          </p:spTgt>
                                        </p:tgtEl>
                                        <p:attrNameLst>
                                          <p:attrName>r</p:attrName>
                                        </p:attrNameLst>
                                      </p:cBhvr>
                                    </p:animRot>
                                    <p:animRot by="-1500000">
                                      <p:cBhvr>
                                        <p:cTn id="45" dur="125" fill="hold">
                                          <p:stCondLst>
                                            <p:cond delay="125"/>
                                          </p:stCondLst>
                                        </p:cTn>
                                        <p:tgtEl>
                                          <p:spTgt spid="3">
                                            <p:txEl>
                                              <p:pRg st="4" end="4"/>
                                            </p:txEl>
                                          </p:spTgt>
                                        </p:tgtEl>
                                        <p:attrNameLst>
                                          <p:attrName>r</p:attrName>
                                        </p:attrNameLst>
                                      </p:cBhvr>
                                    </p:animRot>
                                    <p:animRot by="-1500000">
                                      <p:cBhvr>
                                        <p:cTn id="46" dur="125" fill="hold">
                                          <p:stCondLst>
                                            <p:cond delay="250"/>
                                          </p:stCondLst>
                                        </p:cTn>
                                        <p:tgtEl>
                                          <p:spTgt spid="3">
                                            <p:txEl>
                                              <p:pRg st="4" end="4"/>
                                            </p:txEl>
                                          </p:spTgt>
                                        </p:tgtEl>
                                        <p:attrNameLst>
                                          <p:attrName>r</p:attrName>
                                        </p:attrNameLst>
                                      </p:cBhvr>
                                    </p:animRot>
                                    <p:animRot by="1500000">
                                      <p:cBhvr>
                                        <p:cTn id="47" dur="125" fill="hold">
                                          <p:stCondLst>
                                            <p:cond delay="375"/>
                                          </p:stCondLst>
                                        </p:cTn>
                                        <p:tgtEl>
                                          <p:spTgt spid="3">
                                            <p:txEl>
                                              <p:pRg st="4" end="4"/>
                                            </p:txEl>
                                          </p:spTgt>
                                        </p:tgtEl>
                                        <p:attrNameLst>
                                          <p:attrName>r</p:attrName>
                                        </p:attrNameLst>
                                      </p:cBhvr>
                                    </p:animRot>
                                  </p:childTnLst>
                                </p:cTn>
                              </p:par>
                            </p:childTnLst>
                          </p:cTn>
                        </p:par>
                      </p:childTnLst>
                    </p:cTn>
                  </p:par>
                  <p:par>
                    <p:cTn id="48" fill="hold">
                      <p:stCondLst>
                        <p:cond delay="indefinite"/>
                      </p:stCondLst>
                      <p:childTnLst>
                        <p:par>
                          <p:cTn id="49" fill="hold">
                            <p:stCondLst>
                              <p:cond delay="0"/>
                            </p:stCondLst>
                            <p:childTnLst>
                              <p:par>
                                <p:cTn id="50" presetID="34" presetClass="emph" presetSubtype="0" fill="hold" grpId="0" nodeType="clickEffect">
                                  <p:stCondLst>
                                    <p:cond delay="0"/>
                                  </p:stCondLst>
                                  <p:iterate type="lt">
                                    <p:tmPct val="10000"/>
                                  </p:iterate>
                                  <p:childTnLst>
                                    <p:animMotion origin="layout" path="M 0.0 0.0 L 0.0 -0.07213" pathEditMode="relative" ptsTypes="">
                                      <p:cBhvr>
                                        <p:cTn id="51" dur="250" accel="50000" decel="50000" autoRev="1" fill="hold">
                                          <p:stCondLst>
                                            <p:cond delay="0"/>
                                          </p:stCondLst>
                                        </p:cTn>
                                        <p:tgtEl>
                                          <p:spTgt spid="3">
                                            <p:txEl>
                                              <p:pRg st="5" end="5"/>
                                            </p:txEl>
                                          </p:spTgt>
                                        </p:tgtEl>
                                        <p:attrNameLst>
                                          <p:attrName>ppt_x</p:attrName>
                                          <p:attrName>ppt_y</p:attrName>
                                        </p:attrNameLst>
                                      </p:cBhvr>
                                    </p:animMotion>
                                    <p:animRot by="1500000">
                                      <p:cBhvr>
                                        <p:cTn id="52" dur="125" fill="hold">
                                          <p:stCondLst>
                                            <p:cond delay="0"/>
                                          </p:stCondLst>
                                        </p:cTn>
                                        <p:tgtEl>
                                          <p:spTgt spid="3">
                                            <p:txEl>
                                              <p:pRg st="5" end="5"/>
                                            </p:txEl>
                                          </p:spTgt>
                                        </p:tgtEl>
                                        <p:attrNameLst>
                                          <p:attrName>r</p:attrName>
                                        </p:attrNameLst>
                                      </p:cBhvr>
                                    </p:animRot>
                                    <p:animRot by="-1500000">
                                      <p:cBhvr>
                                        <p:cTn id="53" dur="125" fill="hold">
                                          <p:stCondLst>
                                            <p:cond delay="125"/>
                                          </p:stCondLst>
                                        </p:cTn>
                                        <p:tgtEl>
                                          <p:spTgt spid="3">
                                            <p:txEl>
                                              <p:pRg st="5" end="5"/>
                                            </p:txEl>
                                          </p:spTgt>
                                        </p:tgtEl>
                                        <p:attrNameLst>
                                          <p:attrName>r</p:attrName>
                                        </p:attrNameLst>
                                      </p:cBhvr>
                                    </p:animRot>
                                    <p:animRot by="-1500000">
                                      <p:cBhvr>
                                        <p:cTn id="54" dur="125" fill="hold">
                                          <p:stCondLst>
                                            <p:cond delay="250"/>
                                          </p:stCondLst>
                                        </p:cTn>
                                        <p:tgtEl>
                                          <p:spTgt spid="3">
                                            <p:txEl>
                                              <p:pRg st="5" end="5"/>
                                            </p:txEl>
                                          </p:spTgt>
                                        </p:tgtEl>
                                        <p:attrNameLst>
                                          <p:attrName>r</p:attrName>
                                        </p:attrNameLst>
                                      </p:cBhvr>
                                    </p:animRot>
                                    <p:animRot by="1500000">
                                      <p:cBhvr>
                                        <p:cTn id="55" dur="125" fill="hold">
                                          <p:stCondLst>
                                            <p:cond delay="375"/>
                                          </p:stCondLst>
                                        </p:cTn>
                                        <p:tgtEl>
                                          <p:spTgt spid="3">
                                            <p:txEl>
                                              <p:pRg st="5" end="5"/>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latin typeface="Algerian" panose="04020705040A02060702" pitchFamily="82" charset="0"/>
              </a:rPr>
              <a:t>Advantages of </a:t>
            </a:r>
            <a:r>
              <a:rPr lang="en-GB" dirty="0" err="1" smtClean="0">
                <a:solidFill>
                  <a:srgbClr val="7030A0"/>
                </a:solidFill>
                <a:latin typeface="Algerian" panose="04020705040A02060702" pitchFamily="82" charset="0"/>
              </a:rPr>
              <a:t>IoT</a:t>
            </a:r>
            <a:r>
              <a:rPr lang="en-GB" dirty="0" smtClean="0">
                <a:solidFill>
                  <a:srgbClr val="7030A0"/>
                </a:solidFill>
                <a:latin typeface="Algerian" panose="04020705040A02060702" pitchFamily="82" charset="0"/>
              </a:rPr>
              <a:t>.</a:t>
            </a:r>
            <a:endParaRPr lang="en-US" dirty="0">
              <a:solidFill>
                <a:srgbClr val="7030A0"/>
              </a:solidFill>
              <a:latin typeface="Algerian" panose="04020705040A02060702" pitchFamily="82" charset="0"/>
            </a:endParaRPr>
          </a:p>
        </p:txBody>
      </p:sp>
      <p:sp>
        <p:nvSpPr>
          <p:cNvPr id="3" name="Content Placeholder 2"/>
          <p:cNvSpPr>
            <a:spLocks noGrp="1"/>
          </p:cNvSpPr>
          <p:nvPr>
            <p:ph idx="1"/>
          </p:nvPr>
        </p:nvSpPr>
        <p:spPr>
          <a:xfrm>
            <a:off x="2213292" y="1264555"/>
            <a:ext cx="8915400" cy="3777622"/>
          </a:xfrm>
        </p:spPr>
        <p:txBody>
          <a:bodyPr/>
          <a:lstStyle/>
          <a:p>
            <a:pPr lvl="0"/>
            <a:r>
              <a:rPr lang="en-GB" dirty="0"/>
              <a:t>Easy access</a:t>
            </a:r>
            <a:endParaRPr lang="en-US" dirty="0"/>
          </a:p>
          <a:p>
            <a:pPr lvl="0"/>
            <a:r>
              <a:rPr lang="en-GB" dirty="0"/>
              <a:t>Quick operation</a:t>
            </a:r>
            <a:endParaRPr lang="en-US" dirty="0"/>
          </a:p>
          <a:p>
            <a:pPr lvl="0"/>
            <a:r>
              <a:rPr lang="en-GB" dirty="0"/>
              <a:t>Monitoring data</a:t>
            </a:r>
            <a:endParaRPr lang="en-US" dirty="0"/>
          </a:p>
          <a:p>
            <a:pPr lvl="0"/>
            <a:r>
              <a:rPr lang="en-GB" dirty="0"/>
              <a:t>Following new standards</a:t>
            </a:r>
            <a:endParaRPr lang="en-US" dirty="0"/>
          </a:p>
          <a:p>
            <a:pPr lvl="0"/>
            <a:r>
              <a:rPr lang="en-GB" dirty="0"/>
              <a:t>Better time management</a:t>
            </a:r>
            <a:endParaRPr lang="en-US" dirty="0"/>
          </a:p>
          <a:p>
            <a:pPr lvl="0"/>
            <a:r>
              <a:rPr lang="en-GB" dirty="0"/>
              <a:t>Automation and </a:t>
            </a:r>
            <a:r>
              <a:rPr lang="en-GB" dirty="0" smtClean="0"/>
              <a:t>control.</a:t>
            </a:r>
            <a:endParaRPr lang="en-US" dirty="0"/>
          </a:p>
          <a:p>
            <a:pPr lvl="0"/>
            <a:r>
              <a:rPr lang="en-GB" dirty="0"/>
              <a:t>Cost saving.</a:t>
            </a:r>
            <a:endParaRPr lang="en-US" dirty="0"/>
          </a:p>
          <a:p>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17280" y="3153366"/>
            <a:ext cx="3830320" cy="2999083"/>
          </a:xfrm>
          <a:prstGeom prst="rect">
            <a:avLst/>
          </a:prstGeom>
        </p:spPr>
      </p:pic>
    </p:spTree>
    <p:extLst>
      <p:ext uri="{BB962C8B-B14F-4D97-AF65-F5344CB8AC3E}">
        <p14:creationId xmlns:p14="http://schemas.microsoft.com/office/powerpoint/2010/main" val="312648716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down)">
                                      <p:cBhvr>
                                        <p:cTn id="15" dur="580">
                                          <p:stCondLst>
                                            <p:cond delay="0"/>
                                          </p:stCondLst>
                                        </p:cTn>
                                        <p:tgtEl>
                                          <p:spTgt spid="3">
                                            <p:txEl>
                                              <p:pRg st="0" end="0"/>
                                            </p:txEl>
                                          </p:spTgt>
                                        </p:tgtEl>
                                      </p:cBhvr>
                                    </p:animEffect>
                                    <p:anim calcmode="lin" valueType="num">
                                      <p:cBhvr>
                                        <p:cTn id="16"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1" dur="26">
                                          <p:stCondLst>
                                            <p:cond delay="650"/>
                                          </p:stCondLst>
                                        </p:cTn>
                                        <p:tgtEl>
                                          <p:spTgt spid="3">
                                            <p:txEl>
                                              <p:pRg st="0" end="0"/>
                                            </p:txEl>
                                          </p:spTgt>
                                        </p:tgtEl>
                                      </p:cBhvr>
                                      <p:to x="100000" y="60000"/>
                                    </p:animScale>
                                    <p:animScale>
                                      <p:cBhvr>
                                        <p:cTn id="22" dur="166" decel="50000">
                                          <p:stCondLst>
                                            <p:cond delay="676"/>
                                          </p:stCondLst>
                                        </p:cTn>
                                        <p:tgtEl>
                                          <p:spTgt spid="3">
                                            <p:txEl>
                                              <p:pRg st="0" end="0"/>
                                            </p:txEl>
                                          </p:spTgt>
                                        </p:tgtEl>
                                      </p:cBhvr>
                                      <p:to x="100000" y="100000"/>
                                    </p:animScale>
                                    <p:animScale>
                                      <p:cBhvr>
                                        <p:cTn id="23" dur="26">
                                          <p:stCondLst>
                                            <p:cond delay="1312"/>
                                          </p:stCondLst>
                                        </p:cTn>
                                        <p:tgtEl>
                                          <p:spTgt spid="3">
                                            <p:txEl>
                                              <p:pRg st="0" end="0"/>
                                            </p:txEl>
                                          </p:spTgt>
                                        </p:tgtEl>
                                      </p:cBhvr>
                                      <p:to x="100000" y="80000"/>
                                    </p:animScale>
                                    <p:animScale>
                                      <p:cBhvr>
                                        <p:cTn id="24" dur="166" decel="50000">
                                          <p:stCondLst>
                                            <p:cond delay="1338"/>
                                          </p:stCondLst>
                                        </p:cTn>
                                        <p:tgtEl>
                                          <p:spTgt spid="3">
                                            <p:txEl>
                                              <p:pRg st="0" end="0"/>
                                            </p:txEl>
                                          </p:spTgt>
                                        </p:tgtEl>
                                      </p:cBhvr>
                                      <p:to x="100000" y="100000"/>
                                    </p:animScale>
                                    <p:animScale>
                                      <p:cBhvr>
                                        <p:cTn id="25" dur="26">
                                          <p:stCondLst>
                                            <p:cond delay="1642"/>
                                          </p:stCondLst>
                                        </p:cTn>
                                        <p:tgtEl>
                                          <p:spTgt spid="3">
                                            <p:txEl>
                                              <p:pRg st="0" end="0"/>
                                            </p:txEl>
                                          </p:spTgt>
                                        </p:tgtEl>
                                      </p:cBhvr>
                                      <p:to x="100000" y="90000"/>
                                    </p:animScale>
                                    <p:animScale>
                                      <p:cBhvr>
                                        <p:cTn id="26" dur="166" decel="50000">
                                          <p:stCondLst>
                                            <p:cond delay="1668"/>
                                          </p:stCondLst>
                                        </p:cTn>
                                        <p:tgtEl>
                                          <p:spTgt spid="3">
                                            <p:txEl>
                                              <p:pRg st="0" end="0"/>
                                            </p:txEl>
                                          </p:spTgt>
                                        </p:tgtEl>
                                      </p:cBhvr>
                                      <p:to x="100000" y="100000"/>
                                    </p:animScale>
                                    <p:animScale>
                                      <p:cBhvr>
                                        <p:cTn id="27" dur="26">
                                          <p:stCondLst>
                                            <p:cond delay="1808"/>
                                          </p:stCondLst>
                                        </p:cTn>
                                        <p:tgtEl>
                                          <p:spTgt spid="3">
                                            <p:txEl>
                                              <p:pRg st="0" end="0"/>
                                            </p:txEl>
                                          </p:spTgt>
                                        </p:tgtEl>
                                      </p:cBhvr>
                                      <p:to x="100000" y="95000"/>
                                    </p:animScale>
                                    <p:animScale>
                                      <p:cBhvr>
                                        <p:cTn id="28" dur="166" decel="50000">
                                          <p:stCondLst>
                                            <p:cond delay="1834"/>
                                          </p:stCondLst>
                                        </p:cTn>
                                        <p:tgtEl>
                                          <p:spTgt spid="3">
                                            <p:txEl>
                                              <p:pRg st="0" end="0"/>
                                            </p:txEl>
                                          </p:spTgt>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grpId="0" nodeType="clickEffect">
                                  <p:stCondLst>
                                    <p:cond delay="0"/>
                                  </p:stCondLst>
                                  <p:childTnLst>
                                    <p:set>
                                      <p:cBhvr>
                                        <p:cTn id="32" dur="1" fill="hold">
                                          <p:stCondLst>
                                            <p:cond delay="0"/>
                                          </p:stCondLst>
                                        </p:cTn>
                                        <p:tgtEl>
                                          <p:spTgt spid="3">
                                            <p:txEl>
                                              <p:pRg st="1" end="1"/>
                                            </p:txEl>
                                          </p:spTgt>
                                        </p:tgtEl>
                                        <p:attrNameLst>
                                          <p:attrName>style.visibility</p:attrName>
                                        </p:attrNameLst>
                                      </p:cBhvr>
                                      <p:to>
                                        <p:strVal val="visible"/>
                                      </p:to>
                                    </p:set>
                                    <p:animEffect transition="in" filter="wipe(down)">
                                      <p:cBhvr>
                                        <p:cTn id="33" dur="580">
                                          <p:stCondLst>
                                            <p:cond delay="0"/>
                                          </p:stCondLst>
                                        </p:cTn>
                                        <p:tgtEl>
                                          <p:spTgt spid="3">
                                            <p:txEl>
                                              <p:pRg st="1" end="1"/>
                                            </p:txEl>
                                          </p:spTgt>
                                        </p:tgtEl>
                                      </p:cBhvr>
                                    </p:animEffect>
                                    <p:anim calcmode="lin" valueType="num">
                                      <p:cBhvr>
                                        <p:cTn id="3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3">
                                            <p:txEl>
                                              <p:pRg st="1" end="1"/>
                                            </p:txEl>
                                          </p:spTgt>
                                        </p:tgtEl>
                                      </p:cBhvr>
                                      <p:to x="100000" y="60000"/>
                                    </p:animScale>
                                    <p:animScale>
                                      <p:cBhvr>
                                        <p:cTn id="40" dur="166" decel="50000">
                                          <p:stCondLst>
                                            <p:cond delay="676"/>
                                          </p:stCondLst>
                                        </p:cTn>
                                        <p:tgtEl>
                                          <p:spTgt spid="3">
                                            <p:txEl>
                                              <p:pRg st="1" end="1"/>
                                            </p:txEl>
                                          </p:spTgt>
                                        </p:tgtEl>
                                      </p:cBhvr>
                                      <p:to x="100000" y="100000"/>
                                    </p:animScale>
                                    <p:animScale>
                                      <p:cBhvr>
                                        <p:cTn id="41" dur="26">
                                          <p:stCondLst>
                                            <p:cond delay="1312"/>
                                          </p:stCondLst>
                                        </p:cTn>
                                        <p:tgtEl>
                                          <p:spTgt spid="3">
                                            <p:txEl>
                                              <p:pRg st="1" end="1"/>
                                            </p:txEl>
                                          </p:spTgt>
                                        </p:tgtEl>
                                      </p:cBhvr>
                                      <p:to x="100000" y="80000"/>
                                    </p:animScale>
                                    <p:animScale>
                                      <p:cBhvr>
                                        <p:cTn id="42" dur="166" decel="50000">
                                          <p:stCondLst>
                                            <p:cond delay="1338"/>
                                          </p:stCondLst>
                                        </p:cTn>
                                        <p:tgtEl>
                                          <p:spTgt spid="3">
                                            <p:txEl>
                                              <p:pRg st="1" end="1"/>
                                            </p:txEl>
                                          </p:spTgt>
                                        </p:tgtEl>
                                      </p:cBhvr>
                                      <p:to x="100000" y="100000"/>
                                    </p:animScale>
                                    <p:animScale>
                                      <p:cBhvr>
                                        <p:cTn id="43" dur="26">
                                          <p:stCondLst>
                                            <p:cond delay="1642"/>
                                          </p:stCondLst>
                                        </p:cTn>
                                        <p:tgtEl>
                                          <p:spTgt spid="3">
                                            <p:txEl>
                                              <p:pRg st="1" end="1"/>
                                            </p:txEl>
                                          </p:spTgt>
                                        </p:tgtEl>
                                      </p:cBhvr>
                                      <p:to x="100000" y="90000"/>
                                    </p:animScale>
                                    <p:animScale>
                                      <p:cBhvr>
                                        <p:cTn id="44" dur="166" decel="50000">
                                          <p:stCondLst>
                                            <p:cond delay="1668"/>
                                          </p:stCondLst>
                                        </p:cTn>
                                        <p:tgtEl>
                                          <p:spTgt spid="3">
                                            <p:txEl>
                                              <p:pRg st="1" end="1"/>
                                            </p:txEl>
                                          </p:spTgt>
                                        </p:tgtEl>
                                      </p:cBhvr>
                                      <p:to x="100000" y="100000"/>
                                    </p:animScale>
                                    <p:animScale>
                                      <p:cBhvr>
                                        <p:cTn id="45" dur="26">
                                          <p:stCondLst>
                                            <p:cond delay="1808"/>
                                          </p:stCondLst>
                                        </p:cTn>
                                        <p:tgtEl>
                                          <p:spTgt spid="3">
                                            <p:txEl>
                                              <p:pRg st="1" end="1"/>
                                            </p:txEl>
                                          </p:spTgt>
                                        </p:tgtEl>
                                      </p:cBhvr>
                                      <p:to x="100000" y="95000"/>
                                    </p:animScale>
                                    <p:animScale>
                                      <p:cBhvr>
                                        <p:cTn id="46" dur="166" decel="50000">
                                          <p:stCondLst>
                                            <p:cond delay="1834"/>
                                          </p:stCondLst>
                                        </p:cTn>
                                        <p:tgtEl>
                                          <p:spTgt spid="3">
                                            <p:txEl>
                                              <p:pRg st="1" end="1"/>
                                            </p:txEl>
                                          </p:spTgt>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grpId="0"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wipe(down)">
                                      <p:cBhvr>
                                        <p:cTn id="51" dur="580">
                                          <p:stCondLst>
                                            <p:cond delay="0"/>
                                          </p:stCondLst>
                                        </p:cTn>
                                        <p:tgtEl>
                                          <p:spTgt spid="3">
                                            <p:txEl>
                                              <p:pRg st="2" end="2"/>
                                            </p:txEl>
                                          </p:spTgt>
                                        </p:tgtEl>
                                      </p:cBhvr>
                                    </p:animEffect>
                                    <p:anim calcmode="lin" valueType="num">
                                      <p:cBhvr>
                                        <p:cTn id="5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7" dur="26">
                                          <p:stCondLst>
                                            <p:cond delay="650"/>
                                          </p:stCondLst>
                                        </p:cTn>
                                        <p:tgtEl>
                                          <p:spTgt spid="3">
                                            <p:txEl>
                                              <p:pRg st="2" end="2"/>
                                            </p:txEl>
                                          </p:spTgt>
                                        </p:tgtEl>
                                      </p:cBhvr>
                                      <p:to x="100000" y="60000"/>
                                    </p:animScale>
                                    <p:animScale>
                                      <p:cBhvr>
                                        <p:cTn id="58" dur="166" decel="50000">
                                          <p:stCondLst>
                                            <p:cond delay="676"/>
                                          </p:stCondLst>
                                        </p:cTn>
                                        <p:tgtEl>
                                          <p:spTgt spid="3">
                                            <p:txEl>
                                              <p:pRg st="2" end="2"/>
                                            </p:txEl>
                                          </p:spTgt>
                                        </p:tgtEl>
                                      </p:cBhvr>
                                      <p:to x="100000" y="100000"/>
                                    </p:animScale>
                                    <p:animScale>
                                      <p:cBhvr>
                                        <p:cTn id="59" dur="26">
                                          <p:stCondLst>
                                            <p:cond delay="1312"/>
                                          </p:stCondLst>
                                        </p:cTn>
                                        <p:tgtEl>
                                          <p:spTgt spid="3">
                                            <p:txEl>
                                              <p:pRg st="2" end="2"/>
                                            </p:txEl>
                                          </p:spTgt>
                                        </p:tgtEl>
                                      </p:cBhvr>
                                      <p:to x="100000" y="80000"/>
                                    </p:animScale>
                                    <p:animScale>
                                      <p:cBhvr>
                                        <p:cTn id="60" dur="166" decel="50000">
                                          <p:stCondLst>
                                            <p:cond delay="1338"/>
                                          </p:stCondLst>
                                        </p:cTn>
                                        <p:tgtEl>
                                          <p:spTgt spid="3">
                                            <p:txEl>
                                              <p:pRg st="2" end="2"/>
                                            </p:txEl>
                                          </p:spTgt>
                                        </p:tgtEl>
                                      </p:cBhvr>
                                      <p:to x="100000" y="100000"/>
                                    </p:animScale>
                                    <p:animScale>
                                      <p:cBhvr>
                                        <p:cTn id="61" dur="26">
                                          <p:stCondLst>
                                            <p:cond delay="1642"/>
                                          </p:stCondLst>
                                        </p:cTn>
                                        <p:tgtEl>
                                          <p:spTgt spid="3">
                                            <p:txEl>
                                              <p:pRg st="2" end="2"/>
                                            </p:txEl>
                                          </p:spTgt>
                                        </p:tgtEl>
                                      </p:cBhvr>
                                      <p:to x="100000" y="90000"/>
                                    </p:animScale>
                                    <p:animScale>
                                      <p:cBhvr>
                                        <p:cTn id="62" dur="166" decel="50000">
                                          <p:stCondLst>
                                            <p:cond delay="1668"/>
                                          </p:stCondLst>
                                        </p:cTn>
                                        <p:tgtEl>
                                          <p:spTgt spid="3">
                                            <p:txEl>
                                              <p:pRg st="2" end="2"/>
                                            </p:txEl>
                                          </p:spTgt>
                                        </p:tgtEl>
                                      </p:cBhvr>
                                      <p:to x="100000" y="100000"/>
                                    </p:animScale>
                                    <p:animScale>
                                      <p:cBhvr>
                                        <p:cTn id="63" dur="26">
                                          <p:stCondLst>
                                            <p:cond delay="1808"/>
                                          </p:stCondLst>
                                        </p:cTn>
                                        <p:tgtEl>
                                          <p:spTgt spid="3">
                                            <p:txEl>
                                              <p:pRg st="2" end="2"/>
                                            </p:txEl>
                                          </p:spTgt>
                                        </p:tgtEl>
                                      </p:cBhvr>
                                      <p:to x="100000" y="95000"/>
                                    </p:animScale>
                                    <p:animScale>
                                      <p:cBhvr>
                                        <p:cTn id="64" dur="166" decel="50000">
                                          <p:stCondLst>
                                            <p:cond delay="1834"/>
                                          </p:stCondLst>
                                        </p:cTn>
                                        <p:tgtEl>
                                          <p:spTgt spid="3">
                                            <p:txEl>
                                              <p:pRg st="2" end="2"/>
                                            </p:txEl>
                                          </p:spTgt>
                                        </p:tgtEl>
                                      </p:cBhvr>
                                      <p:to x="100000" y="100000"/>
                                    </p:animScale>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grpId="0" nodeType="clickEffect">
                                  <p:stCondLst>
                                    <p:cond delay="0"/>
                                  </p:stCondLst>
                                  <p:childTnLst>
                                    <p:set>
                                      <p:cBhvr>
                                        <p:cTn id="68" dur="1" fill="hold">
                                          <p:stCondLst>
                                            <p:cond delay="0"/>
                                          </p:stCondLst>
                                        </p:cTn>
                                        <p:tgtEl>
                                          <p:spTgt spid="3">
                                            <p:txEl>
                                              <p:pRg st="3" end="3"/>
                                            </p:txEl>
                                          </p:spTgt>
                                        </p:tgtEl>
                                        <p:attrNameLst>
                                          <p:attrName>style.visibility</p:attrName>
                                        </p:attrNameLst>
                                      </p:cBhvr>
                                      <p:to>
                                        <p:strVal val="visible"/>
                                      </p:to>
                                    </p:set>
                                    <p:animEffect transition="in" filter="wipe(down)">
                                      <p:cBhvr>
                                        <p:cTn id="69" dur="580">
                                          <p:stCondLst>
                                            <p:cond delay="0"/>
                                          </p:stCondLst>
                                        </p:cTn>
                                        <p:tgtEl>
                                          <p:spTgt spid="3">
                                            <p:txEl>
                                              <p:pRg st="3" end="3"/>
                                            </p:txEl>
                                          </p:spTgt>
                                        </p:tgtEl>
                                      </p:cBhvr>
                                    </p:animEffect>
                                    <p:anim calcmode="lin" valueType="num">
                                      <p:cBhvr>
                                        <p:cTn id="7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75" dur="26">
                                          <p:stCondLst>
                                            <p:cond delay="650"/>
                                          </p:stCondLst>
                                        </p:cTn>
                                        <p:tgtEl>
                                          <p:spTgt spid="3">
                                            <p:txEl>
                                              <p:pRg st="3" end="3"/>
                                            </p:txEl>
                                          </p:spTgt>
                                        </p:tgtEl>
                                      </p:cBhvr>
                                      <p:to x="100000" y="60000"/>
                                    </p:animScale>
                                    <p:animScale>
                                      <p:cBhvr>
                                        <p:cTn id="76" dur="166" decel="50000">
                                          <p:stCondLst>
                                            <p:cond delay="676"/>
                                          </p:stCondLst>
                                        </p:cTn>
                                        <p:tgtEl>
                                          <p:spTgt spid="3">
                                            <p:txEl>
                                              <p:pRg st="3" end="3"/>
                                            </p:txEl>
                                          </p:spTgt>
                                        </p:tgtEl>
                                      </p:cBhvr>
                                      <p:to x="100000" y="100000"/>
                                    </p:animScale>
                                    <p:animScale>
                                      <p:cBhvr>
                                        <p:cTn id="77" dur="26">
                                          <p:stCondLst>
                                            <p:cond delay="1312"/>
                                          </p:stCondLst>
                                        </p:cTn>
                                        <p:tgtEl>
                                          <p:spTgt spid="3">
                                            <p:txEl>
                                              <p:pRg st="3" end="3"/>
                                            </p:txEl>
                                          </p:spTgt>
                                        </p:tgtEl>
                                      </p:cBhvr>
                                      <p:to x="100000" y="80000"/>
                                    </p:animScale>
                                    <p:animScale>
                                      <p:cBhvr>
                                        <p:cTn id="78" dur="166" decel="50000">
                                          <p:stCondLst>
                                            <p:cond delay="1338"/>
                                          </p:stCondLst>
                                        </p:cTn>
                                        <p:tgtEl>
                                          <p:spTgt spid="3">
                                            <p:txEl>
                                              <p:pRg st="3" end="3"/>
                                            </p:txEl>
                                          </p:spTgt>
                                        </p:tgtEl>
                                      </p:cBhvr>
                                      <p:to x="100000" y="100000"/>
                                    </p:animScale>
                                    <p:animScale>
                                      <p:cBhvr>
                                        <p:cTn id="79" dur="26">
                                          <p:stCondLst>
                                            <p:cond delay="1642"/>
                                          </p:stCondLst>
                                        </p:cTn>
                                        <p:tgtEl>
                                          <p:spTgt spid="3">
                                            <p:txEl>
                                              <p:pRg st="3" end="3"/>
                                            </p:txEl>
                                          </p:spTgt>
                                        </p:tgtEl>
                                      </p:cBhvr>
                                      <p:to x="100000" y="90000"/>
                                    </p:animScale>
                                    <p:animScale>
                                      <p:cBhvr>
                                        <p:cTn id="80" dur="166" decel="50000">
                                          <p:stCondLst>
                                            <p:cond delay="1668"/>
                                          </p:stCondLst>
                                        </p:cTn>
                                        <p:tgtEl>
                                          <p:spTgt spid="3">
                                            <p:txEl>
                                              <p:pRg st="3" end="3"/>
                                            </p:txEl>
                                          </p:spTgt>
                                        </p:tgtEl>
                                      </p:cBhvr>
                                      <p:to x="100000" y="100000"/>
                                    </p:animScale>
                                    <p:animScale>
                                      <p:cBhvr>
                                        <p:cTn id="81" dur="26">
                                          <p:stCondLst>
                                            <p:cond delay="1808"/>
                                          </p:stCondLst>
                                        </p:cTn>
                                        <p:tgtEl>
                                          <p:spTgt spid="3">
                                            <p:txEl>
                                              <p:pRg st="3" end="3"/>
                                            </p:txEl>
                                          </p:spTgt>
                                        </p:tgtEl>
                                      </p:cBhvr>
                                      <p:to x="100000" y="95000"/>
                                    </p:animScale>
                                    <p:animScale>
                                      <p:cBhvr>
                                        <p:cTn id="82" dur="166" decel="50000">
                                          <p:stCondLst>
                                            <p:cond delay="1834"/>
                                          </p:stCondLst>
                                        </p:cTn>
                                        <p:tgtEl>
                                          <p:spTgt spid="3">
                                            <p:txEl>
                                              <p:pRg st="3" end="3"/>
                                            </p:txEl>
                                          </p:spTgt>
                                        </p:tgtEl>
                                      </p:cBhvr>
                                      <p:to x="100000" y="100000"/>
                                    </p:animScale>
                                  </p:childTnLst>
                                </p:cTn>
                              </p:par>
                            </p:childTnLst>
                          </p:cTn>
                        </p:par>
                      </p:childTnLst>
                    </p:cTn>
                  </p:par>
                  <p:par>
                    <p:cTn id="83" fill="hold">
                      <p:stCondLst>
                        <p:cond delay="indefinite"/>
                      </p:stCondLst>
                      <p:childTnLst>
                        <p:par>
                          <p:cTn id="84" fill="hold">
                            <p:stCondLst>
                              <p:cond delay="0"/>
                            </p:stCondLst>
                            <p:childTnLst>
                              <p:par>
                                <p:cTn id="85" presetID="26" presetClass="entr" presetSubtype="0" fill="hold" grpId="0" nodeType="clickEffect">
                                  <p:stCondLst>
                                    <p:cond delay="0"/>
                                  </p:stCondLst>
                                  <p:childTnLst>
                                    <p:set>
                                      <p:cBhvr>
                                        <p:cTn id="86" dur="1" fill="hold">
                                          <p:stCondLst>
                                            <p:cond delay="0"/>
                                          </p:stCondLst>
                                        </p:cTn>
                                        <p:tgtEl>
                                          <p:spTgt spid="3">
                                            <p:txEl>
                                              <p:pRg st="4" end="4"/>
                                            </p:txEl>
                                          </p:spTgt>
                                        </p:tgtEl>
                                        <p:attrNameLst>
                                          <p:attrName>style.visibility</p:attrName>
                                        </p:attrNameLst>
                                      </p:cBhvr>
                                      <p:to>
                                        <p:strVal val="visible"/>
                                      </p:to>
                                    </p:set>
                                    <p:animEffect transition="in" filter="wipe(down)">
                                      <p:cBhvr>
                                        <p:cTn id="87" dur="580">
                                          <p:stCondLst>
                                            <p:cond delay="0"/>
                                          </p:stCondLst>
                                        </p:cTn>
                                        <p:tgtEl>
                                          <p:spTgt spid="3">
                                            <p:txEl>
                                              <p:pRg st="4" end="4"/>
                                            </p:txEl>
                                          </p:spTgt>
                                        </p:tgtEl>
                                      </p:cBhvr>
                                    </p:animEffect>
                                    <p:anim calcmode="lin" valueType="num">
                                      <p:cBhvr>
                                        <p:cTn id="88"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
                                            <p:txEl>
                                              <p:pRg st="4" end="4"/>
                                            </p:txEl>
                                          </p:spTgt>
                                        </p:tgtEl>
                                      </p:cBhvr>
                                      <p:to x="100000" y="60000"/>
                                    </p:animScale>
                                    <p:animScale>
                                      <p:cBhvr>
                                        <p:cTn id="94" dur="166" decel="50000">
                                          <p:stCondLst>
                                            <p:cond delay="676"/>
                                          </p:stCondLst>
                                        </p:cTn>
                                        <p:tgtEl>
                                          <p:spTgt spid="3">
                                            <p:txEl>
                                              <p:pRg st="4" end="4"/>
                                            </p:txEl>
                                          </p:spTgt>
                                        </p:tgtEl>
                                      </p:cBhvr>
                                      <p:to x="100000" y="100000"/>
                                    </p:animScale>
                                    <p:animScale>
                                      <p:cBhvr>
                                        <p:cTn id="95" dur="26">
                                          <p:stCondLst>
                                            <p:cond delay="1312"/>
                                          </p:stCondLst>
                                        </p:cTn>
                                        <p:tgtEl>
                                          <p:spTgt spid="3">
                                            <p:txEl>
                                              <p:pRg st="4" end="4"/>
                                            </p:txEl>
                                          </p:spTgt>
                                        </p:tgtEl>
                                      </p:cBhvr>
                                      <p:to x="100000" y="80000"/>
                                    </p:animScale>
                                    <p:animScale>
                                      <p:cBhvr>
                                        <p:cTn id="96" dur="166" decel="50000">
                                          <p:stCondLst>
                                            <p:cond delay="1338"/>
                                          </p:stCondLst>
                                        </p:cTn>
                                        <p:tgtEl>
                                          <p:spTgt spid="3">
                                            <p:txEl>
                                              <p:pRg st="4" end="4"/>
                                            </p:txEl>
                                          </p:spTgt>
                                        </p:tgtEl>
                                      </p:cBhvr>
                                      <p:to x="100000" y="100000"/>
                                    </p:animScale>
                                    <p:animScale>
                                      <p:cBhvr>
                                        <p:cTn id="97" dur="26">
                                          <p:stCondLst>
                                            <p:cond delay="1642"/>
                                          </p:stCondLst>
                                        </p:cTn>
                                        <p:tgtEl>
                                          <p:spTgt spid="3">
                                            <p:txEl>
                                              <p:pRg st="4" end="4"/>
                                            </p:txEl>
                                          </p:spTgt>
                                        </p:tgtEl>
                                      </p:cBhvr>
                                      <p:to x="100000" y="90000"/>
                                    </p:animScale>
                                    <p:animScale>
                                      <p:cBhvr>
                                        <p:cTn id="98" dur="166" decel="50000">
                                          <p:stCondLst>
                                            <p:cond delay="1668"/>
                                          </p:stCondLst>
                                        </p:cTn>
                                        <p:tgtEl>
                                          <p:spTgt spid="3">
                                            <p:txEl>
                                              <p:pRg st="4" end="4"/>
                                            </p:txEl>
                                          </p:spTgt>
                                        </p:tgtEl>
                                      </p:cBhvr>
                                      <p:to x="100000" y="100000"/>
                                    </p:animScale>
                                    <p:animScale>
                                      <p:cBhvr>
                                        <p:cTn id="99" dur="26">
                                          <p:stCondLst>
                                            <p:cond delay="1808"/>
                                          </p:stCondLst>
                                        </p:cTn>
                                        <p:tgtEl>
                                          <p:spTgt spid="3">
                                            <p:txEl>
                                              <p:pRg st="4" end="4"/>
                                            </p:txEl>
                                          </p:spTgt>
                                        </p:tgtEl>
                                      </p:cBhvr>
                                      <p:to x="100000" y="95000"/>
                                    </p:animScale>
                                    <p:animScale>
                                      <p:cBhvr>
                                        <p:cTn id="100" dur="166" decel="50000">
                                          <p:stCondLst>
                                            <p:cond delay="1834"/>
                                          </p:stCondLst>
                                        </p:cTn>
                                        <p:tgtEl>
                                          <p:spTgt spid="3">
                                            <p:txEl>
                                              <p:pRg st="4" end="4"/>
                                            </p:txEl>
                                          </p:spTgt>
                                        </p:tgtEl>
                                      </p:cBhvr>
                                      <p:to x="100000" y="100000"/>
                                    </p:animScale>
                                  </p:childTnLst>
                                </p:cTn>
                              </p:par>
                            </p:childTnLst>
                          </p:cTn>
                        </p:par>
                      </p:childTnLst>
                    </p:cTn>
                  </p:par>
                  <p:par>
                    <p:cTn id="101" fill="hold">
                      <p:stCondLst>
                        <p:cond delay="indefinite"/>
                      </p:stCondLst>
                      <p:childTnLst>
                        <p:par>
                          <p:cTn id="102" fill="hold">
                            <p:stCondLst>
                              <p:cond delay="0"/>
                            </p:stCondLst>
                            <p:childTnLst>
                              <p:par>
                                <p:cTn id="103" presetID="26" presetClass="entr" presetSubtype="0" fill="hold" grpId="0" nodeType="clickEffect">
                                  <p:stCondLst>
                                    <p:cond delay="0"/>
                                  </p:stCondLst>
                                  <p:childTnLst>
                                    <p:set>
                                      <p:cBhvr>
                                        <p:cTn id="104" dur="1" fill="hold">
                                          <p:stCondLst>
                                            <p:cond delay="0"/>
                                          </p:stCondLst>
                                        </p:cTn>
                                        <p:tgtEl>
                                          <p:spTgt spid="3">
                                            <p:txEl>
                                              <p:pRg st="5" end="5"/>
                                            </p:txEl>
                                          </p:spTgt>
                                        </p:tgtEl>
                                        <p:attrNameLst>
                                          <p:attrName>style.visibility</p:attrName>
                                        </p:attrNameLst>
                                      </p:cBhvr>
                                      <p:to>
                                        <p:strVal val="visible"/>
                                      </p:to>
                                    </p:set>
                                    <p:animEffect transition="in" filter="wipe(down)">
                                      <p:cBhvr>
                                        <p:cTn id="105" dur="580">
                                          <p:stCondLst>
                                            <p:cond delay="0"/>
                                          </p:stCondLst>
                                        </p:cTn>
                                        <p:tgtEl>
                                          <p:spTgt spid="3">
                                            <p:txEl>
                                              <p:pRg st="5" end="5"/>
                                            </p:txEl>
                                          </p:spTgt>
                                        </p:tgtEl>
                                      </p:cBhvr>
                                    </p:animEffect>
                                    <p:anim calcmode="lin" valueType="num">
                                      <p:cBhvr>
                                        <p:cTn id="106"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107"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108"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109"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110"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111" dur="26">
                                          <p:stCondLst>
                                            <p:cond delay="650"/>
                                          </p:stCondLst>
                                        </p:cTn>
                                        <p:tgtEl>
                                          <p:spTgt spid="3">
                                            <p:txEl>
                                              <p:pRg st="5" end="5"/>
                                            </p:txEl>
                                          </p:spTgt>
                                        </p:tgtEl>
                                      </p:cBhvr>
                                      <p:to x="100000" y="60000"/>
                                    </p:animScale>
                                    <p:animScale>
                                      <p:cBhvr>
                                        <p:cTn id="112" dur="166" decel="50000">
                                          <p:stCondLst>
                                            <p:cond delay="676"/>
                                          </p:stCondLst>
                                        </p:cTn>
                                        <p:tgtEl>
                                          <p:spTgt spid="3">
                                            <p:txEl>
                                              <p:pRg st="5" end="5"/>
                                            </p:txEl>
                                          </p:spTgt>
                                        </p:tgtEl>
                                      </p:cBhvr>
                                      <p:to x="100000" y="100000"/>
                                    </p:animScale>
                                    <p:animScale>
                                      <p:cBhvr>
                                        <p:cTn id="113" dur="26">
                                          <p:stCondLst>
                                            <p:cond delay="1312"/>
                                          </p:stCondLst>
                                        </p:cTn>
                                        <p:tgtEl>
                                          <p:spTgt spid="3">
                                            <p:txEl>
                                              <p:pRg st="5" end="5"/>
                                            </p:txEl>
                                          </p:spTgt>
                                        </p:tgtEl>
                                      </p:cBhvr>
                                      <p:to x="100000" y="80000"/>
                                    </p:animScale>
                                    <p:animScale>
                                      <p:cBhvr>
                                        <p:cTn id="114" dur="166" decel="50000">
                                          <p:stCondLst>
                                            <p:cond delay="1338"/>
                                          </p:stCondLst>
                                        </p:cTn>
                                        <p:tgtEl>
                                          <p:spTgt spid="3">
                                            <p:txEl>
                                              <p:pRg st="5" end="5"/>
                                            </p:txEl>
                                          </p:spTgt>
                                        </p:tgtEl>
                                      </p:cBhvr>
                                      <p:to x="100000" y="100000"/>
                                    </p:animScale>
                                    <p:animScale>
                                      <p:cBhvr>
                                        <p:cTn id="115" dur="26">
                                          <p:stCondLst>
                                            <p:cond delay="1642"/>
                                          </p:stCondLst>
                                        </p:cTn>
                                        <p:tgtEl>
                                          <p:spTgt spid="3">
                                            <p:txEl>
                                              <p:pRg st="5" end="5"/>
                                            </p:txEl>
                                          </p:spTgt>
                                        </p:tgtEl>
                                      </p:cBhvr>
                                      <p:to x="100000" y="90000"/>
                                    </p:animScale>
                                    <p:animScale>
                                      <p:cBhvr>
                                        <p:cTn id="116" dur="166" decel="50000">
                                          <p:stCondLst>
                                            <p:cond delay="1668"/>
                                          </p:stCondLst>
                                        </p:cTn>
                                        <p:tgtEl>
                                          <p:spTgt spid="3">
                                            <p:txEl>
                                              <p:pRg st="5" end="5"/>
                                            </p:txEl>
                                          </p:spTgt>
                                        </p:tgtEl>
                                      </p:cBhvr>
                                      <p:to x="100000" y="100000"/>
                                    </p:animScale>
                                    <p:animScale>
                                      <p:cBhvr>
                                        <p:cTn id="117" dur="26">
                                          <p:stCondLst>
                                            <p:cond delay="1808"/>
                                          </p:stCondLst>
                                        </p:cTn>
                                        <p:tgtEl>
                                          <p:spTgt spid="3">
                                            <p:txEl>
                                              <p:pRg st="5" end="5"/>
                                            </p:txEl>
                                          </p:spTgt>
                                        </p:tgtEl>
                                      </p:cBhvr>
                                      <p:to x="100000" y="95000"/>
                                    </p:animScale>
                                    <p:animScale>
                                      <p:cBhvr>
                                        <p:cTn id="118" dur="166" decel="50000">
                                          <p:stCondLst>
                                            <p:cond delay="1834"/>
                                          </p:stCondLst>
                                        </p:cTn>
                                        <p:tgtEl>
                                          <p:spTgt spid="3">
                                            <p:txEl>
                                              <p:pRg st="5" end="5"/>
                                            </p:txEl>
                                          </p:spTgt>
                                        </p:tgtEl>
                                      </p:cBhvr>
                                      <p:to x="100000" y="100000"/>
                                    </p:animScale>
                                  </p:childTnLst>
                                </p:cTn>
                              </p:par>
                            </p:childTnLst>
                          </p:cTn>
                        </p:par>
                      </p:childTnLst>
                    </p:cTn>
                  </p:par>
                  <p:par>
                    <p:cTn id="119" fill="hold">
                      <p:stCondLst>
                        <p:cond delay="indefinite"/>
                      </p:stCondLst>
                      <p:childTnLst>
                        <p:par>
                          <p:cTn id="120" fill="hold">
                            <p:stCondLst>
                              <p:cond delay="0"/>
                            </p:stCondLst>
                            <p:childTnLst>
                              <p:par>
                                <p:cTn id="121" presetID="26" presetClass="entr" presetSubtype="0" fill="hold" grpId="0" nodeType="clickEffect">
                                  <p:stCondLst>
                                    <p:cond delay="0"/>
                                  </p:stCondLst>
                                  <p:childTnLst>
                                    <p:set>
                                      <p:cBhvr>
                                        <p:cTn id="122" dur="1" fill="hold">
                                          <p:stCondLst>
                                            <p:cond delay="0"/>
                                          </p:stCondLst>
                                        </p:cTn>
                                        <p:tgtEl>
                                          <p:spTgt spid="3">
                                            <p:txEl>
                                              <p:pRg st="6" end="6"/>
                                            </p:txEl>
                                          </p:spTgt>
                                        </p:tgtEl>
                                        <p:attrNameLst>
                                          <p:attrName>style.visibility</p:attrName>
                                        </p:attrNameLst>
                                      </p:cBhvr>
                                      <p:to>
                                        <p:strVal val="visible"/>
                                      </p:to>
                                    </p:set>
                                    <p:animEffect transition="in" filter="wipe(down)">
                                      <p:cBhvr>
                                        <p:cTn id="123" dur="580">
                                          <p:stCondLst>
                                            <p:cond delay="0"/>
                                          </p:stCondLst>
                                        </p:cTn>
                                        <p:tgtEl>
                                          <p:spTgt spid="3">
                                            <p:txEl>
                                              <p:pRg st="6" end="6"/>
                                            </p:txEl>
                                          </p:spTgt>
                                        </p:tgtEl>
                                      </p:cBhvr>
                                    </p:animEffect>
                                    <p:anim calcmode="lin" valueType="num">
                                      <p:cBhvr>
                                        <p:cTn id="124"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25"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26"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27"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28"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29" dur="26">
                                          <p:stCondLst>
                                            <p:cond delay="650"/>
                                          </p:stCondLst>
                                        </p:cTn>
                                        <p:tgtEl>
                                          <p:spTgt spid="3">
                                            <p:txEl>
                                              <p:pRg st="6" end="6"/>
                                            </p:txEl>
                                          </p:spTgt>
                                        </p:tgtEl>
                                      </p:cBhvr>
                                      <p:to x="100000" y="60000"/>
                                    </p:animScale>
                                    <p:animScale>
                                      <p:cBhvr>
                                        <p:cTn id="130" dur="166" decel="50000">
                                          <p:stCondLst>
                                            <p:cond delay="676"/>
                                          </p:stCondLst>
                                        </p:cTn>
                                        <p:tgtEl>
                                          <p:spTgt spid="3">
                                            <p:txEl>
                                              <p:pRg st="6" end="6"/>
                                            </p:txEl>
                                          </p:spTgt>
                                        </p:tgtEl>
                                      </p:cBhvr>
                                      <p:to x="100000" y="100000"/>
                                    </p:animScale>
                                    <p:animScale>
                                      <p:cBhvr>
                                        <p:cTn id="131" dur="26">
                                          <p:stCondLst>
                                            <p:cond delay="1312"/>
                                          </p:stCondLst>
                                        </p:cTn>
                                        <p:tgtEl>
                                          <p:spTgt spid="3">
                                            <p:txEl>
                                              <p:pRg st="6" end="6"/>
                                            </p:txEl>
                                          </p:spTgt>
                                        </p:tgtEl>
                                      </p:cBhvr>
                                      <p:to x="100000" y="80000"/>
                                    </p:animScale>
                                    <p:animScale>
                                      <p:cBhvr>
                                        <p:cTn id="132" dur="166" decel="50000">
                                          <p:stCondLst>
                                            <p:cond delay="1338"/>
                                          </p:stCondLst>
                                        </p:cTn>
                                        <p:tgtEl>
                                          <p:spTgt spid="3">
                                            <p:txEl>
                                              <p:pRg st="6" end="6"/>
                                            </p:txEl>
                                          </p:spTgt>
                                        </p:tgtEl>
                                      </p:cBhvr>
                                      <p:to x="100000" y="100000"/>
                                    </p:animScale>
                                    <p:animScale>
                                      <p:cBhvr>
                                        <p:cTn id="133" dur="26">
                                          <p:stCondLst>
                                            <p:cond delay="1642"/>
                                          </p:stCondLst>
                                        </p:cTn>
                                        <p:tgtEl>
                                          <p:spTgt spid="3">
                                            <p:txEl>
                                              <p:pRg st="6" end="6"/>
                                            </p:txEl>
                                          </p:spTgt>
                                        </p:tgtEl>
                                      </p:cBhvr>
                                      <p:to x="100000" y="90000"/>
                                    </p:animScale>
                                    <p:animScale>
                                      <p:cBhvr>
                                        <p:cTn id="134" dur="166" decel="50000">
                                          <p:stCondLst>
                                            <p:cond delay="1668"/>
                                          </p:stCondLst>
                                        </p:cTn>
                                        <p:tgtEl>
                                          <p:spTgt spid="3">
                                            <p:txEl>
                                              <p:pRg st="6" end="6"/>
                                            </p:txEl>
                                          </p:spTgt>
                                        </p:tgtEl>
                                      </p:cBhvr>
                                      <p:to x="100000" y="100000"/>
                                    </p:animScale>
                                    <p:animScale>
                                      <p:cBhvr>
                                        <p:cTn id="135" dur="26">
                                          <p:stCondLst>
                                            <p:cond delay="1808"/>
                                          </p:stCondLst>
                                        </p:cTn>
                                        <p:tgtEl>
                                          <p:spTgt spid="3">
                                            <p:txEl>
                                              <p:pRg st="6" end="6"/>
                                            </p:txEl>
                                          </p:spTgt>
                                        </p:tgtEl>
                                      </p:cBhvr>
                                      <p:to x="100000" y="95000"/>
                                    </p:animScale>
                                    <p:animScale>
                                      <p:cBhvr>
                                        <p:cTn id="136" dur="166" decel="50000">
                                          <p:stCondLst>
                                            <p:cond delay="1834"/>
                                          </p:stCondLst>
                                        </p:cTn>
                                        <p:tgtEl>
                                          <p:spTgt spid="3">
                                            <p:txEl>
                                              <p:pRg st="6" end="6"/>
                                            </p:txEl>
                                          </p:spTgt>
                                        </p:tgtEl>
                                      </p:cBhvr>
                                      <p:to x="100000" y="100000"/>
                                    </p:animScale>
                                  </p:childTnLst>
                                </p:cTn>
                              </p:par>
                            </p:childTnLst>
                          </p:cTn>
                        </p:par>
                      </p:childTnLst>
                    </p:cTn>
                  </p:par>
                  <p:par>
                    <p:cTn id="137" fill="hold">
                      <p:stCondLst>
                        <p:cond delay="indefinite"/>
                      </p:stCondLst>
                      <p:childTnLst>
                        <p:par>
                          <p:cTn id="138" fill="hold">
                            <p:stCondLst>
                              <p:cond delay="0"/>
                            </p:stCondLst>
                            <p:childTnLst>
                              <p:par>
                                <p:cTn id="139" presetID="26" presetClass="entr" presetSubtype="0" fill="hold" nodeType="clickEffect">
                                  <p:stCondLst>
                                    <p:cond delay="0"/>
                                  </p:stCondLst>
                                  <p:childTnLst>
                                    <p:set>
                                      <p:cBhvr>
                                        <p:cTn id="140" dur="1" fill="hold">
                                          <p:stCondLst>
                                            <p:cond delay="0"/>
                                          </p:stCondLst>
                                        </p:cTn>
                                        <p:tgtEl>
                                          <p:spTgt spid="5"/>
                                        </p:tgtEl>
                                        <p:attrNameLst>
                                          <p:attrName>style.visibility</p:attrName>
                                        </p:attrNameLst>
                                      </p:cBhvr>
                                      <p:to>
                                        <p:strVal val="visible"/>
                                      </p:to>
                                    </p:set>
                                    <p:animEffect transition="in" filter="wipe(down)">
                                      <p:cBhvr>
                                        <p:cTn id="141" dur="580">
                                          <p:stCondLst>
                                            <p:cond delay="0"/>
                                          </p:stCondLst>
                                        </p:cTn>
                                        <p:tgtEl>
                                          <p:spTgt spid="5"/>
                                        </p:tgtEl>
                                      </p:cBhvr>
                                    </p:animEffect>
                                    <p:anim calcmode="lin" valueType="num">
                                      <p:cBhvr>
                                        <p:cTn id="142"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143"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44"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45"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46"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47" dur="26">
                                          <p:stCondLst>
                                            <p:cond delay="650"/>
                                          </p:stCondLst>
                                        </p:cTn>
                                        <p:tgtEl>
                                          <p:spTgt spid="5"/>
                                        </p:tgtEl>
                                      </p:cBhvr>
                                      <p:to x="100000" y="60000"/>
                                    </p:animScale>
                                    <p:animScale>
                                      <p:cBhvr>
                                        <p:cTn id="148" dur="166" decel="50000">
                                          <p:stCondLst>
                                            <p:cond delay="676"/>
                                          </p:stCondLst>
                                        </p:cTn>
                                        <p:tgtEl>
                                          <p:spTgt spid="5"/>
                                        </p:tgtEl>
                                      </p:cBhvr>
                                      <p:to x="100000" y="100000"/>
                                    </p:animScale>
                                    <p:animScale>
                                      <p:cBhvr>
                                        <p:cTn id="149" dur="26">
                                          <p:stCondLst>
                                            <p:cond delay="1312"/>
                                          </p:stCondLst>
                                        </p:cTn>
                                        <p:tgtEl>
                                          <p:spTgt spid="5"/>
                                        </p:tgtEl>
                                      </p:cBhvr>
                                      <p:to x="100000" y="80000"/>
                                    </p:animScale>
                                    <p:animScale>
                                      <p:cBhvr>
                                        <p:cTn id="150" dur="166" decel="50000">
                                          <p:stCondLst>
                                            <p:cond delay="1338"/>
                                          </p:stCondLst>
                                        </p:cTn>
                                        <p:tgtEl>
                                          <p:spTgt spid="5"/>
                                        </p:tgtEl>
                                      </p:cBhvr>
                                      <p:to x="100000" y="100000"/>
                                    </p:animScale>
                                    <p:animScale>
                                      <p:cBhvr>
                                        <p:cTn id="151" dur="26">
                                          <p:stCondLst>
                                            <p:cond delay="1642"/>
                                          </p:stCondLst>
                                        </p:cTn>
                                        <p:tgtEl>
                                          <p:spTgt spid="5"/>
                                        </p:tgtEl>
                                      </p:cBhvr>
                                      <p:to x="100000" y="90000"/>
                                    </p:animScale>
                                    <p:animScale>
                                      <p:cBhvr>
                                        <p:cTn id="152" dur="166" decel="50000">
                                          <p:stCondLst>
                                            <p:cond delay="1668"/>
                                          </p:stCondLst>
                                        </p:cTn>
                                        <p:tgtEl>
                                          <p:spTgt spid="5"/>
                                        </p:tgtEl>
                                      </p:cBhvr>
                                      <p:to x="100000" y="100000"/>
                                    </p:animScale>
                                    <p:animScale>
                                      <p:cBhvr>
                                        <p:cTn id="153" dur="26">
                                          <p:stCondLst>
                                            <p:cond delay="1808"/>
                                          </p:stCondLst>
                                        </p:cTn>
                                        <p:tgtEl>
                                          <p:spTgt spid="5"/>
                                        </p:tgtEl>
                                      </p:cBhvr>
                                      <p:to x="100000" y="95000"/>
                                    </p:animScale>
                                    <p:animScale>
                                      <p:cBhvr>
                                        <p:cTn id="154"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latin typeface="Arial Narrow" panose="020B0606020202030204" pitchFamily="34" charset="0"/>
              </a:rPr>
              <a:t>DISADVANTAGES OF </a:t>
            </a:r>
            <a:r>
              <a:rPr lang="en-GB" dirty="0" err="1" smtClean="0">
                <a:solidFill>
                  <a:srgbClr val="7030A0"/>
                </a:solidFill>
                <a:latin typeface="Arial Narrow" panose="020B0606020202030204" pitchFamily="34" charset="0"/>
              </a:rPr>
              <a:t>IoT</a:t>
            </a:r>
            <a:r>
              <a:rPr lang="en-GB" dirty="0" smtClean="0">
                <a:solidFill>
                  <a:srgbClr val="7030A0"/>
                </a:solidFill>
                <a:latin typeface="Arial Narrow" panose="020B0606020202030204" pitchFamily="34" charset="0"/>
              </a:rPr>
              <a:t>.</a:t>
            </a:r>
            <a:endParaRPr lang="en-US" dirty="0">
              <a:solidFill>
                <a:srgbClr val="7030A0"/>
              </a:solidFill>
              <a:latin typeface="Arial Narrow" panose="020B0606020202030204" pitchFamily="34" charset="0"/>
            </a:endParaRPr>
          </a:p>
        </p:txBody>
      </p:sp>
      <p:sp>
        <p:nvSpPr>
          <p:cNvPr id="3" name="Content Placeholder 2"/>
          <p:cNvSpPr>
            <a:spLocks noGrp="1"/>
          </p:cNvSpPr>
          <p:nvPr>
            <p:ph idx="1"/>
          </p:nvPr>
        </p:nvSpPr>
        <p:spPr/>
        <p:txBody>
          <a:bodyPr/>
          <a:lstStyle/>
          <a:p>
            <a:pPr lvl="0"/>
            <a:r>
              <a:rPr lang="en-GB" dirty="0"/>
              <a:t>Dependency on technology</a:t>
            </a:r>
            <a:endParaRPr lang="en-US" dirty="0"/>
          </a:p>
          <a:p>
            <a:pPr lvl="0"/>
            <a:r>
              <a:rPr lang="en-GB" dirty="0"/>
              <a:t>Loss of data</a:t>
            </a:r>
            <a:endParaRPr lang="en-US" dirty="0"/>
          </a:p>
          <a:p>
            <a:pPr lvl="0"/>
            <a:r>
              <a:rPr lang="en-GB" dirty="0"/>
              <a:t>Operation complexity</a:t>
            </a:r>
            <a:endParaRPr lang="en-US" dirty="0"/>
          </a:p>
          <a:p>
            <a:pPr lvl="0"/>
            <a:r>
              <a:rPr lang="en-GB" dirty="0"/>
              <a:t>Inter compatibility</a:t>
            </a:r>
            <a:endParaRPr lang="en-US" dirty="0"/>
          </a:p>
          <a:p>
            <a:pPr lvl="0"/>
            <a:r>
              <a:rPr lang="en-GB" dirty="0"/>
              <a:t>Less employment of low educated workers</a:t>
            </a:r>
            <a:endParaRPr lang="en-US" dirty="0"/>
          </a:p>
          <a:p>
            <a:pPr lvl="0"/>
            <a:r>
              <a:rPr lang="en-GB" dirty="0"/>
              <a:t>More control of technology</a:t>
            </a:r>
            <a:endParaRPr lang="en-US" dirty="0"/>
          </a:p>
          <a:p>
            <a:endParaRPr lang="en-GB" dirty="0" smtClean="0"/>
          </a:p>
          <a:p>
            <a:endParaRPr lang="en-US" dirty="0"/>
          </a:p>
        </p:txBody>
      </p:sp>
    </p:spTree>
    <p:extLst>
      <p:ext uri="{BB962C8B-B14F-4D97-AF65-F5344CB8AC3E}">
        <p14:creationId xmlns:p14="http://schemas.microsoft.com/office/powerpoint/2010/main" val="2481381059"/>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4" presetClass="emph" presetSubtype="0" fill="hold" grpId="0" nodeType="clickEffect">
                                  <p:stCondLst>
                                    <p:cond delay="0"/>
                                  </p:stCondLst>
                                  <p:iterate type="lt">
                                    <p:tmPct val="10000"/>
                                  </p:iterate>
                                  <p:childTnLst>
                                    <p:animMotion origin="layout" path="M 0.0 0.0 L 0.0 -0.07213" pathEditMode="relative" ptsTypes="">
                                      <p:cBhvr>
                                        <p:cTn id="24" dur="250" accel="50000" decel="50000" autoRev="1" fill="hold">
                                          <p:stCondLst>
                                            <p:cond delay="0"/>
                                          </p:stCondLst>
                                        </p:cTn>
                                        <p:tgtEl>
                                          <p:spTgt spid="3">
                                            <p:txEl>
                                              <p:pRg st="0" end="0"/>
                                            </p:txEl>
                                          </p:spTgt>
                                        </p:tgtEl>
                                        <p:attrNameLst>
                                          <p:attrName>ppt_x</p:attrName>
                                          <p:attrName>ppt_y</p:attrName>
                                        </p:attrNameLst>
                                      </p:cBhvr>
                                    </p:animMotion>
                                    <p:animRot by="1500000">
                                      <p:cBhvr>
                                        <p:cTn id="25" dur="125" fill="hold">
                                          <p:stCondLst>
                                            <p:cond delay="0"/>
                                          </p:stCondLst>
                                        </p:cTn>
                                        <p:tgtEl>
                                          <p:spTgt spid="3">
                                            <p:txEl>
                                              <p:pRg st="0" end="0"/>
                                            </p:txEl>
                                          </p:spTgt>
                                        </p:tgtEl>
                                        <p:attrNameLst>
                                          <p:attrName>r</p:attrName>
                                        </p:attrNameLst>
                                      </p:cBhvr>
                                    </p:animRot>
                                    <p:animRot by="-1500000">
                                      <p:cBhvr>
                                        <p:cTn id="26" dur="125" fill="hold">
                                          <p:stCondLst>
                                            <p:cond delay="125"/>
                                          </p:stCondLst>
                                        </p:cTn>
                                        <p:tgtEl>
                                          <p:spTgt spid="3">
                                            <p:txEl>
                                              <p:pRg st="0" end="0"/>
                                            </p:txEl>
                                          </p:spTgt>
                                        </p:tgtEl>
                                        <p:attrNameLst>
                                          <p:attrName>r</p:attrName>
                                        </p:attrNameLst>
                                      </p:cBhvr>
                                    </p:animRot>
                                    <p:animRot by="-1500000">
                                      <p:cBhvr>
                                        <p:cTn id="27" dur="125" fill="hold">
                                          <p:stCondLst>
                                            <p:cond delay="250"/>
                                          </p:stCondLst>
                                        </p:cTn>
                                        <p:tgtEl>
                                          <p:spTgt spid="3">
                                            <p:txEl>
                                              <p:pRg st="0" end="0"/>
                                            </p:txEl>
                                          </p:spTgt>
                                        </p:tgtEl>
                                        <p:attrNameLst>
                                          <p:attrName>r</p:attrName>
                                        </p:attrNameLst>
                                      </p:cBhvr>
                                    </p:animRot>
                                    <p:animRot by="1500000">
                                      <p:cBhvr>
                                        <p:cTn id="28" dur="125" fill="hold">
                                          <p:stCondLst>
                                            <p:cond delay="375"/>
                                          </p:stCondLst>
                                        </p:cTn>
                                        <p:tgtEl>
                                          <p:spTgt spid="3">
                                            <p:txEl>
                                              <p:pRg st="0" end="0"/>
                                            </p:txEl>
                                          </p:spTgt>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34" presetClass="emph" presetSubtype="0" fill="hold" grpId="0" nodeType="clickEffect">
                                  <p:stCondLst>
                                    <p:cond delay="0"/>
                                  </p:stCondLst>
                                  <p:iterate type="lt">
                                    <p:tmPct val="10000"/>
                                  </p:iterate>
                                  <p:childTnLst>
                                    <p:animMotion origin="layout" path="M 0.0 0.0 L 0.0 -0.07213" pathEditMode="relative" ptsTypes="">
                                      <p:cBhvr>
                                        <p:cTn id="32" dur="250" accel="50000" decel="50000" autoRev="1" fill="hold">
                                          <p:stCondLst>
                                            <p:cond delay="0"/>
                                          </p:stCondLst>
                                        </p:cTn>
                                        <p:tgtEl>
                                          <p:spTgt spid="3">
                                            <p:txEl>
                                              <p:pRg st="1" end="1"/>
                                            </p:txEl>
                                          </p:spTgt>
                                        </p:tgtEl>
                                        <p:attrNameLst>
                                          <p:attrName>ppt_x</p:attrName>
                                          <p:attrName>ppt_y</p:attrName>
                                        </p:attrNameLst>
                                      </p:cBhvr>
                                    </p:animMotion>
                                    <p:animRot by="1500000">
                                      <p:cBhvr>
                                        <p:cTn id="33" dur="125" fill="hold">
                                          <p:stCondLst>
                                            <p:cond delay="0"/>
                                          </p:stCondLst>
                                        </p:cTn>
                                        <p:tgtEl>
                                          <p:spTgt spid="3">
                                            <p:txEl>
                                              <p:pRg st="1" end="1"/>
                                            </p:txEl>
                                          </p:spTgt>
                                        </p:tgtEl>
                                        <p:attrNameLst>
                                          <p:attrName>r</p:attrName>
                                        </p:attrNameLst>
                                      </p:cBhvr>
                                    </p:animRot>
                                    <p:animRot by="-1500000">
                                      <p:cBhvr>
                                        <p:cTn id="34" dur="125" fill="hold">
                                          <p:stCondLst>
                                            <p:cond delay="125"/>
                                          </p:stCondLst>
                                        </p:cTn>
                                        <p:tgtEl>
                                          <p:spTgt spid="3">
                                            <p:txEl>
                                              <p:pRg st="1" end="1"/>
                                            </p:txEl>
                                          </p:spTgt>
                                        </p:tgtEl>
                                        <p:attrNameLst>
                                          <p:attrName>r</p:attrName>
                                        </p:attrNameLst>
                                      </p:cBhvr>
                                    </p:animRot>
                                    <p:animRot by="-1500000">
                                      <p:cBhvr>
                                        <p:cTn id="35" dur="125" fill="hold">
                                          <p:stCondLst>
                                            <p:cond delay="250"/>
                                          </p:stCondLst>
                                        </p:cTn>
                                        <p:tgtEl>
                                          <p:spTgt spid="3">
                                            <p:txEl>
                                              <p:pRg st="1" end="1"/>
                                            </p:txEl>
                                          </p:spTgt>
                                        </p:tgtEl>
                                        <p:attrNameLst>
                                          <p:attrName>r</p:attrName>
                                        </p:attrNameLst>
                                      </p:cBhvr>
                                    </p:animRot>
                                    <p:animRot by="1500000">
                                      <p:cBhvr>
                                        <p:cTn id="36" dur="125" fill="hold">
                                          <p:stCondLst>
                                            <p:cond delay="375"/>
                                          </p:stCondLst>
                                        </p:cTn>
                                        <p:tgtEl>
                                          <p:spTgt spid="3">
                                            <p:txEl>
                                              <p:pRg st="1" end="1"/>
                                            </p:txEl>
                                          </p:spTgt>
                                        </p:tgtEl>
                                        <p:attrNameLst>
                                          <p:attrName>r</p:attrName>
                                        </p:attrNameLst>
                                      </p:cBhvr>
                                    </p:animRot>
                                  </p:childTnLst>
                                </p:cTn>
                              </p:par>
                            </p:childTnLst>
                          </p:cTn>
                        </p:par>
                      </p:childTnLst>
                    </p:cTn>
                  </p:par>
                  <p:par>
                    <p:cTn id="37" fill="hold">
                      <p:stCondLst>
                        <p:cond delay="indefinite"/>
                      </p:stCondLst>
                      <p:childTnLst>
                        <p:par>
                          <p:cTn id="38" fill="hold">
                            <p:stCondLst>
                              <p:cond delay="0"/>
                            </p:stCondLst>
                            <p:childTnLst>
                              <p:par>
                                <p:cTn id="39" presetID="34" presetClass="emph" presetSubtype="0" fill="hold" grpId="0" nodeType="clickEffect">
                                  <p:stCondLst>
                                    <p:cond delay="0"/>
                                  </p:stCondLst>
                                  <p:iterate type="lt">
                                    <p:tmPct val="10000"/>
                                  </p:iterate>
                                  <p:childTnLst>
                                    <p:animMotion origin="layout" path="M 0.0 0.0 L 0.0 -0.07213" pathEditMode="relative" ptsTypes="">
                                      <p:cBhvr>
                                        <p:cTn id="40" dur="250" accel="50000" decel="50000" autoRev="1" fill="hold">
                                          <p:stCondLst>
                                            <p:cond delay="0"/>
                                          </p:stCondLst>
                                        </p:cTn>
                                        <p:tgtEl>
                                          <p:spTgt spid="3">
                                            <p:txEl>
                                              <p:pRg st="2" end="2"/>
                                            </p:txEl>
                                          </p:spTgt>
                                        </p:tgtEl>
                                        <p:attrNameLst>
                                          <p:attrName>ppt_x</p:attrName>
                                          <p:attrName>ppt_y</p:attrName>
                                        </p:attrNameLst>
                                      </p:cBhvr>
                                    </p:animMotion>
                                    <p:animRot by="1500000">
                                      <p:cBhvr>
                                        <p:cTn id="41" dur="125" fill="hold">
                                          <p:stCondLst>
                                            <p:cond delay="0"/>
                                          </p:stCondLst>
                                        </p:cTn>
                                        <p:tgtEl>
                                          <p:spTgt spid="3">
                                            <p:txEl>
                                              <p:pRg st="2" end="2"/>
                                            </p:txEl>
                                          </p:spTgt>
                                        </p:tgtEl>
                                        <p:attrNameLst>
                                          <p:attrName>r</p:attrName>
                                        </p:attrNameLst>
                                      </p:cBhvr>
                                    </p:animRot>
                                    <p:animRot by="-1500000">
                                      <p:cBhvr>
                                        <p:cTn id="42" dur="125" fill="hold">
                                          <p:stCondLst>
                                            <p:cond delay="125"/>
                                          </p:stCondLst>
                                        </p:cTn>
                                        <p:tgtEl>
                                          <p:spTgt spid="3">
                                            <p:txEl>
                                              <p:pRg st="2" end="2"/>
                                            </p:txEl>
                                          </p:spTgt>
                                        </p:tgtEl>
                                        <p:attrNameLst>
                                          <p:attrName>r</p:attrName>
                                        </p:attrNameLst>
                                      </p:cBhvr>
                                    </p:animRot>
                                    <p:animRot by="-1500000">
                                      <p:cBhvr>
                                        <p:cTn id="43" dur="125" fill="hold">
                                          <p:stCondLst>
                                            <p:cond delay="250"/>
                                          </p:stCondLst>
                                        </p:cTn>
                                        <p:tgtEl>
                                          <p:spTgt spid="3">
                                            <p:txEl>
                                              <p:pRg st="2" end="2"/>
                                            </p:txEl>
                                          </p:spTgt>
                                        </p:tgtEl>
                                        <p:attrNameLst>
                                          <p:attrName>r</p:attrName>
                                        </p:attrNameLst>
                                      </p:cBhvr>
                                    </p:animRot>
                                    <p:animRot by="1500000">
                                      <p:cBhvr>
                                        <p:cTn id="44" dur="125" fill="hold">
                                          <p:stCondLst>
                                            <p:cond delay="375"/>
                                          </p:stCondLst>
                                        </p:cTn>
                                        <p:tgtEl>
                                          <p:spTgt spid="3">
                                            <p:txEl>
                                              <p:pRg st="2" end="2"/>
                                            </p:txEl>
                                          </p:spTgt>
                                        </p:tgtEl>
                                        <p:attrNameLst>
                                          <p:attrName>r</p:attrName>
                                        </p:attrNameLst>
                                      </p:cBhvr>
                                    </p:animRot>
                                  </p:childTnLst>
                                </p:cTn>
                              </p:par>
                            </p:childTnLst>
                          </p:cTn>
                        </p:par>
                      </p:childTnLst>
                    </p:cTn>
                  </p:par>
                  <p:par>
                    <p:cTn id="45" fill="hold">
                      <p:stCondLst>
                        <p:cond delay="indefinite"/>
                      </p:stCondLst>
                      <p:childTnLst>
                        <p:par>
                          <p:cTn id="46" fill="hold">
                            <p:stCondLst>
                              <p:cond delay="0"/>
                            </p:stCondLst>
                            <p:childTnLst>
                              <p:par>
                                <p:cTn id="47" presetID="34" presetClass="emph" presetSubtype="0" fill="hold" grpId="0" nodeType="clickEffect">
                                  <p:stCondLst>
                                    <p:cond delay="0"/>
                                  </p:stCondLst>
                                  <p:iterate type="lt">
                                    <p:tmPct val="10000"/>
                                  </p:iterate>
                                  <p:childTnLst>
                                    <p:animMotion origin="layout" path="M 0.0 0.0 L 0.0 -0.07213" pathEditMode="relative" ptsTypes="">
                                      <p:cBhvr>
                                        <p:cTn id="48" dur="250" accel="50000" decel="50000" autoRev="1" fill="hold">
                                          <p:stCondLst>
                                            <p:cond delay="0"/>
                                          </p:stCondLst>
                                        </p:cTn>
                                        <p:tgtEl>
                                          <p:spTgt spid="3">
                                            <p:txEl>
                                              <p:pRg st="3" end="3"/>
                                            </p:txEl>
                                          </p:spTgt>
                                        </p:tgtEl>
                                        <p:attrNameLst>
                                          <p:attrName>ppt_x</p:attrName>
                                          <p:attrName>ppt_y</p:attrName>
                                        </p:attrNameLst>
                                      </p:cBhvr>
                                    </p:animMotion>
                                    <p:animRot by="1500000">
                                      <p:cBhvr>
                                        <p:cTn id="49" dur="125" fill="hold">
                                          <p:stCondLst>
                                            <p:cond delay="0"/>
                                          </p:stCondLst>
                                        </p:cTn>
                                        <p:tgtEl>
                                          <p:spTgt spid="3">
                                            <p:txEl>
                                              <p:pRg st="3" end="3"/>
                                            </p:txEl>
                                          </p:spTgt>
                                        </p:tgtEl>
                                        <p:attrNameLst>
                                          <p:attrName>r</p:attrName>
                                        </p:attrNameLst>
                                      </p:cBhvr>
                                    </p:animRot>
                                    <p:animRot by="-1500000">
                                      <p:cBhvr>
                                        <p:cTn id="50" dur="125" fill="hold">
                                          <p:stCondLst>
                                            <p:cond delay="125"/>
                                          </p:stCondLst>
                                        </p:cTn>
                                        <p:tgtEl>
                                          <p:spTgt spid="3">
                                            <p:txEl>
                                              <p:pRg st="3" end="3"/>
                                            </p:txEl>
                                          </p:spTgt>
                                        </p:tgtEl>
                                        <p:attrNameLst>
                                          <p:attrName>r</p:attrName>
                                        </p:attrNameLst>
                                      </p:cBhvr>
                                    </p:animRot>
                                    <p:animRot by="-1500000">
                                      <p:cBhvr>
                                        <p:cTn id="51" dur="125" fill="hold">
                                          <p:stCondLst>
                                            <p:cond delay="250"/>
                                          </p:stCondLst>
                                        </p:cTn>
                                        <p:tgtEl>
                                          <p:spTgt spid="3">
                                            <p:txEl>
                                              <p:pRg st="3" end="3"/>
                                            </p:txEl>
                                          </p:spTgt>
                                        </p:tgtEl>
                                        <p:attrNameLst>
                                          <p:attrName>r</p:attrName>
                                        </p:attrNameLst>
                                      </p:cBhvr>
                                    </p:animRot>
                                    <p:animRot by="1500000">
                                      <p:cBhvr>
                                        <p:cTn id="52" dur="125" fill="hold">
                                          <p:stCondLst>
                                            <p:cond delay="375"/>
                                          </p:stCondLst>
                                        </p:cTn>
                                        <p:tgtEl>
                                          <p:spTgt spid="3">
                                            <p:txEl>
                                              <p:pRg st="3" end="3"/>
                                            </p:txEl>
                                          </p:spTgt>
                                        </p:tgtEl>
                                        <p:attrNameLst>
                                          <p:attrName>r</p:attrName>
                                        </p:attrNameLst>
                                      </p:cBhvr>
                                    </p:animRot>
                                  </p:childTnLst>
                                </p:cTn>
                              </p:par>
                            </p:childTnLst>
                          </p:cTn>
                        </p:par>
                      </p:childTnLst>
                    </p:cTn>
                  </p:par>
                  <p:par>
                    <p:cTn id="53" fill="hold">
                      <p:stCondLst>
                        <p:cond delay="indefinite"/>
                      </p:stCondLst>
                      <p:childTnLst>
                        <p:par>
                          <p:cTn id="54" fill="hold">
                            <p:stCondLst>
                              <p:cond delay="0"/>
                            </p:stCondLst>
                            <p:childTnLst>
                              <p:par>
                                <p:cTn id="55" presetID="34" presetClass="emph" presetSubtype="0" fill="hold" grpId="0" nodeType="clickEffect">
                                  <p:stCondLst>
                                    <p:cond delay="0"/>
                                  </p:stCondLst>
                                  <p:iterate type="lt">
                                    <p:tmPct val="10000"/>
                                  </p:iterate>
                                  <p:childTnLst>
                                    <p:animMotion origin="layout" path="M 0.0 0.0 L 0.0 -0.07213" pathEditMode="relative" ptsTypes="">
                                      <p:cBhvr>
                                        <p:cTn id="56" dur="250" accel="50000" decel="50000" autoRev="1" fill="hold">
                                          <p:stCondLst>
                                            <p:cond delay="0"/>
                                          </p:stCondLst>
                                        </p:cTn>
                                        <p:tgtEl>
                                          <p:spTgt spid="3">
                                            <p:txEl>
                                              <p:pRg st="4" end="4"/>
                                            </p:txEl>
                                          </p:spTgt>
                                        </p:tgtEl>
                                        <p:attrNameLst>
                                          <p:attrName>ppt_x</p:attrName>
                                          <p:attrName>ppt_y</p:attrName>
                                        </p:attrNameLst>
                                      </p:cBhvr>
                                    </p:animMotion>
                                    <p:animRot by="1500000">
                                      <p:cBhvr>
                                        <p:cTn id="57" dur="125" fill="hold">
                                          <p:stCondLst>
                                            <p:cond delay="0"/>
                                          </p:stCondLst>
                                        </p:cTn>
                                        <p:tgtEl>
                                          <p:spTgt spid="3">
                                            <p:txEl>
                                              <p:pRg st="4" end="4"/>
                                            </p:txEl>
                                          </p:spTgt>
                                        </p:tgtEl>
                                        <p:attrNameLst>
                                          <p:attrName>r</p:attrName>
                                        </p:attrNameLst>
                                      </p:cBhvr>
                                    </p:animRot>
                                    <p:animRot by="-1500000">
                                      <p:cBhvr>
                                        <p:cTn id="58" dur="125" fill="hold">
                                          <p:stCondLst>
                                            <p:cond delay="125"/>
                                          </p:stCondLst>
                                        </p:cTn>
                                        <p:tgtEl>
                                          <p:spTgt spid="3">
                                            <p:txEl>
                                              <p:pRg st="4" end="4"/>
                                            </p:txEl>
                                          </p:spTgt>
                                        </p:tgtEl>
                                        <p:attrNameLst>
                                          <p:attrName>r</p:attrName>
                                        </p:attrNameLst>
                                      </p:cBhvr>
                                    </p:animRot>
                                    <p:animRot by="-1500000">
                                      <p:cBhvr>
                                        <p:cTn id="59" dur="125" fill="hold">
                                          <p:stCondLst>
                                            <p:cond delay="250"/>
                                          </p:stCondLst>
                                        </p:cTn>
                                        <p:tgtEl>
                                          <p:spTgt spid="3">
                                            <p:txEl>
                                              <p:pRg st="4" end="4"/>
                                            </p:txEl>
                                          </p:spTgt>
                                        </p:tgtEl>
                                        <p:attrNameLst>
                                          <p:attrName>r</p:attrName>
                                        </p:attrNameLst>
                                      </p:cBhvr>
                                    </p:animRot>
                                    <p:animRot by="1500000">
                                      <p:cBhvr>
                                        <p:cTn id="60" dur="125" fill="hold">
                                          <p:stCondLst>
                                            <p:cond delay="375"/>
                                          </p:stCondLst>
                                        </p:cTn>
                                        <p:tgtEl>
                                          <p:spTgt spid="3">
                                            <p:txEl>
                                              <p:pRg st="4" end="4"/>
                                            </p:txEl>
                                          </p:spTgt>
                                        </p:tgtEl>
                                        <p:attrNameLst>
                                          <p:attrName>r</p:attrName>
                                        </p:attrNameLst>
                                      </p:cBhvr>
                                    </p:animRot>
                                  </p:childTnLst>
                                </p:cTn>
                              </p:par>
                            </p:childTnLst>
                          </p:cTn>
                        </p:par>
                      </p:childTnLst>
                    </p:cTn>
                  </p:par>
                  <p:par>
                    <p:cTn id="61" fill="hold">
                      <p:stCondLst>
                        <p:cond delay="indefinite"/>
                      </p:stCondLst>
                      <p:childTnLst>
                        <p:par>
                          <p:cTn id="62" fill="hold">
                            <p:stCondLst>
                              <p:cond delay="0"/>
                            </p:stCondLst>
                            <p:childTnLst>
                              <p:par>
                                <p:cTn id="63" presetID="34" presetClass="emph" presetSubtype="0" fill="hold" grpId="0" nodeType="clickEffect">
                                  <p:stCondLst>
                                    <p:cond delay="0"/>
                                  </p:stCondLst>
                                  <p:iterate type="lt">
                                    <p:tmPct val="10000"/>
                                  </p:iterate>
                                  <p:childTnLst>
                                    <p:animMotion origin="layout" path="M 0.0 0.0 L 0.0 -0.07213" pathEditMode="relative" ptsTypes="">
                                      <p:cBhvr>
                                        <p:cTn id="64" dur="250" accel="50000" decel="50000" autoRev="1" fill="hold">
                                          <p:stCondLst>
                                            <p:cond delay="0"/>
                                          </p:stCondLst>
                                        </p:cTn>
                                        <p:tgtEl>
                                          <p:spTgt spid="3">
                                            <p:txEl>
                                              <p:pRg st="5" end="5"/>
                                            </p:txEl>
                                          </p:spTgt>
                                        </p:tgtEl>
                                        <p:attrNameLst>
                                          <p:attrName>ppt_x</p:attrName>
                                          <p:attrName>ppt_y</p:attrName>
                                        </p:attrNameLst>
                                      </p:cBhvr>
                                    </p:animMotion>
                                    <p:animRot by="1500000">
                                      <p:cBhvr>
                                        <p:cTn id="65" dur="125" fill="hold">
                                          <p:stCondLst>
                                            <p:cond delay="0"/>
                                          </p:stCondLst>
                                        </p:cTn>
                                        <p:tgtEl>
                                          <p:spTgt spid="3">
                                            <p:txEl>
                                              <p:pRg st="5" end="5"/>
                                            </p:txEl>
                                          </p:spTgt>
                                        </p:tgtEl>
                                        <p:attrNameLst>
                                          <p:attrName>r</p:attrName>
                                        </p:attrNameLst>
                                      </p:cBhvr>
                                    </p:animRot>
                                    <p:animRot by="-1500000">
                                      <p:cBhvr>
                                        <p:cTn id="66" dur="125" fill="hold">
                                          <p:stCondLst>
                                            <p:cond delay="125"/>
                                          </p:stCondLst>
                                        </p:cTn>
                                        <p:tgtEl>
                                          <p:spTgt spid="3">
                                            <p:txEl>
                                              <p:pRg st="5" end="5"/>
                                            </p:txEl>
                                          </p:spTgt>
                                        </p:tgtEl>
                                        <p:attrNameLst>
                                          <p:attrName>r</p:attrName>
                                        </p:attrNameLst>
                                      </p:cBhvr>
                                    </p:animRot>
                                    <p:animRot by="-1500000">
                                      <p:cBhvr>
                                        <p:cTn id="67" dur="125" fill="hold">
                                          <p:stCondLst>
                                            <p:cond delay="250"/>
                                          </p:stCondLst>
                                        </p:cTn>
                                        <p:tgtEl>
                                          <p:spTgt spid="3">
                                            <p:txEl>
                                              <p:pRg st="5" end="5"/>
                                            </p:txEl>
                                          </p:spTgt>
                                        </p:tgtEl>
                                        <p:attrNameLst>
                                          <p:attrName>r</p:attrName>
                                        </p:attrNameLst>
                                      </p:cBhvr>
                                    </p:animRot>
                                    <p:animRot by="1500000">
                                      <p:cBhvr>
                                        <p:cTn id="68" dur="125" fill="hold">
                                          <p:stCondLst>
                                            <p:cond delay="375"/>
                                          </p:stCondLst>
                                        </p:cTn>
                                        <p:tgtEl>
                                          <p:spTgt spid="3">
                                            <p:txEl>
                                              <p:pRg st="5" end="5"/>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latin typeface="Tahoma" panose="020B0604030504040204" pitchFamily="34" charset="0"/>
                <a:ea typeface="Tahoma" panose="020B0604030504040204" pitchFamily="34" charset="0"/>
                <a:cs typeface="Tahoma" panose="020B0604030504040204" pitchFamily="34" charset="0"/>
              </a:rPr>
              <a:t>RELEVANCE AND POTENTIAL IMPACTS</a:t>
            </a:r>
            <a:r>
              <a:rPr lang="en-GB" dirty="0" smtClean="0"/>
              <a:t>.</a:t>
            </a: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anose="05000000000000000000" pitchFamily="2" charset="2"/>
              <a:buChar char="Ø"/>
            </a:pPr>
            <a:r>
              <a:rPr lang="en-GB" i="1" dirty="0" err="1"/>
              <a:t>IoT</a:t>
            </a:r>
            <a:r>
              <a:rPr lang="en-GB" i="1" dirty="0"/>
              <a:t> enabled biomedical devices</a:t>
            </a:r>
            <a:r>
              <a:rPr lang="en-GB" dirty="0"/>
              <a:t>:</a:t>
            </a:r>
            <a:endParaRPr lang="en-US" dirty="0"/>
          </a:p>
          <a:p>
            <a:r>
              <a:rPr lang="en-GB" dirty="0" smtClean="0"/>
              <a:t> </a:t>
            </a:r>
            <a:r>
              <a:rPr lang="en-GB" dirty="0" err="1" smtClean="0"/>
              <a:t>IoT</a:t>
            </a:r>
            <a:r>
              <a:rPr lang="en-GB" dirty="0" smtClean="0"/>
              <a:t> </a:t>
            </a:r>
            <a:r>
              <a:rPr lang="en-GB" dirty="0"/>
              <a:t>has enabled the development of sophisticated biomedical systems that play a vital role in monitoring, diagnosing and treating medical conditions.</a:t>
            </a:r>
            <a:endParaRPr lang="en-US" dirty="0"/>
          </a:p>
          <a:p>
            <a:r>
              <a:rPr lang="en-GB" dirty="0" smtClean="0"/>
              <a:t>  Devices </a:t>
            </a:r>
            <a:r>
              <a:rPr lang="en-GB" dirty="0"/>
              <a:t>such as wearable health monitors, smart medical implants and remote patient monitoring systems have made it possible to track patient’s health and diagnosis to early detection of anomalies and </a:t>
            </a:r>
            <a:r>
              <a:rPr lang="en-GB" dirty="0" smtClean="0"/>
              <a:t>intervention.</a:t>
            </a:r>
          </a:p>
          <a:p>
            <a:pPr lvl="0">
              <a:buFont typeface="Wingdings" panose="05000000000000000000" pitchFamily="2" charset="2"/>
              <a:buChar char="Ø"/>
            </a:pPr>
            <a:r>
              <a:rPr lang="en-GB" i="1" dirty="0"/>
              <a:t>Data analytics and predictive health care:</a:t>
            </a:r>
            <a:endParaRPr lang="en-US" dirty="0"/>
          </a:p>
          <a:p>
            <a:r>
              <a:rPr lang="en-GB" dirty="0"/>
              <a:t>The influx of data generated by </a:t>
            </a:r>
            <a:r>
              <a:rPr lang="en-GB" dirty="0" err="1"/>
              <a:t>IoT</a:t>
            </a:r>
            <a:r>
              <a:rPr lang="en-GB" dirty="0"/>
              <a:t> devices in health care has presented an enormous opportunity for data analytics and predictive modelling. By engaging A.I and machine learning algorithms health care provides an analysed large data sets to identify patterns, correlations and potential health risks.</a:t>
            </a:r>
            <a:endParaRPr lang="en-US" dirty="0"/>
          </a:p>
          <a:p>
            <a:r>
              <a:rPr lang="en-GB" dirty="0"/>
              <a:t>Predictive analytics can anticipate diseases or complications before they occur allowing for early intervention and preventive measures.</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00026771"/>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p:cTn id="13"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 calcmode="lin" valueType="num">
                                      <p:cBhvr>
                                        <p:cTn id="2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p:cTn id="2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 calcmode="lin" valueType="num">
                                      <p:cBhvr>
                                        <p:cTn id="37"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8"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9"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0" dur="1000"/>
                                        <p:tgtEl>
                                          <p:spTgt spid="3">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grpId="0"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 calcmode="lin" valueType="num">
                                      <p:cBhvr>
                                        <p:cTn id="45"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6"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7"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48" dur="1000"/>
                                        <p:tgtEl>
                                          <p:spTgt spid="3">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grpId="0"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p:cTn id="53"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4"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5"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6"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Contn</a:t>
            </a:r>
            <a:r>
              <a:rPr lang="en-GB" dirty="0" smtClean="0"/>
              <a:t>….</a:t>
            </a:r>
            <a:endParaRPr lang="en-US" dirty="0"/>
          </a:p>
        </p:txBody>
      </p:sp>
      <p:sp>
        <p:nvSpPr>
          <p:cNvPr id="3" name="Content Placeholder 2"/>
          <p:cNvSpPr>
            <a:spLocks noGrp="1"/>
          </p:cNvSpPr>
          <p:nvPr>
            <p:ph idx="1"/>
          </p:nvPr>
        </p:nvSpPr>
        <p:spPr/>
        <p:txBody>
          <a:bodyPr/>
          <a:lstStyle/>
          <a:p>
            <a:pPr lvl="0">
              <a:buFont typeface="Wingdings" panose="05000000000000000000" pitchFamily="2" charset="2"/>
              <a:buChar char="Ø"/>
            </a:pPr>
            <a:r>
              <a:rPr lang="en-GB" i="1" dirty="0" err="1"/>
              <a:t>IoT</a:t>
            </a:r>
            <a:r>
              <a:rPr lang="en-GB" i="1" dirty="0"/>
              <a:t> patient </a:t>
            </a:r>
            <a:r>
              <a:rPr lang="en-GB" i="1" dirty="0" smtClean="0"/>
              <a:t>care</a:t>
            </a:r>
            <a:r>
              <a:rPr lang="en-GB" dirty="0" smtClean="0"/>
              <a:t>:</a:t>
            </a:r>
            <a:endParaRPr lang="en-US" dirty="0" smtClean="0"/>
          </a:p>
          <a:p>
            <a:r>
              <a:rPr lang="en-GB" dirty="0"/>
              <a:t>It has made health care multifaceted, more personalised, accessible and efficient. Telemedicine and remote patient monitoring have gained prominence due to </a:t>
            </a:r>
            <a:r>
              <a:rPr lang="en-GB" dirty="0" err="1"/>
              <a:t>IoT’s</a:t>
            </a:r>
            <a:r>
              <a:rPr lang="en-GB" dirty="0"/>
              <a:t> integration (e.g. COVID-19) pandemic.</a:t>
            </a:r>
            <a:endParaRPr lang="en-US" dirty="0"/>
          </a:p>
          <a:p>
            <a:r>
              <a:rPr lang="en-GB" dirty="0" smtClean="0"/>
              <a:t>It </a:t>
            </a:r>
            <a:r>
              <a:rPr lang="en-GB" dirty="0"/>
              <a:t>has also enabled the concept of connected care where various medical devices and wearables communicate with each other providing a comprehensive picture of patient’s health status. This interconnected approach focuses better collaboration among health care providers leading to more accurate diagnosis and tailored treatment plans.</a:t>
            </a:r>
            <a:endParaRPr lang="en-US" dirty="0"/>
          </a:p>
          <a:p>
            <a:pPr marL="0" indent="0">
              <a:buNone/>
            </a:pPr>
            <a:endParaRPr lang="en-US" dirty="0"/>
          </a:p>
        </p:txBody>
      </p:sp>
    </p:spTree>
    <p:extLst>
      <p:ext uri="{BB962C8B-B14F-4D97-AF65-F5344CB8AC3E}">
        <p14:creationId xmlns:p14="http://schemas.microsoft.com/office/powerpoint/2010/main" val="2930673520"/>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anim calcmode="lin" valueType="num">
                                      <p:cBhvr>
                                        <p:cTn id="32" dur="1000" fill="hold"/>
                                        <p:tgtEl>
                                          <p:spTgt spid="2"/>
                                        </p:tgtEl>
                                        <p:attrNameLst>
                                          <p:attrName>ppt_x</p:attrName>
                                        </p:attrNameLst>
                                      </p:cBhvr>
                                      <p:tavLst>
                                        <p:tav tm="0">
                                          <p:val>
                                            <p:strVal val="#ppt_x"/>
                                          </p:val>
                                        </p:tav>
                                        <p:tav tm="100000">
                                          <p:val>
                                            <p:strVal val="#ppt_x"/>
                                          </p:val>
                                        </p:tav>
                                      </p:tavLst>
                                    </p:anim>
                                    <p:anim calcmode="lin" valueType="num">
                                      <p:cBhvr>
                                        <p:cTn id="3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rgbClr val="7030A0"/>
                </a:solidFill>
                <a:latin typeface="Algerian" panose="04020705040A02060702" pitchFamily="82" charset="0"/>
              </a:rPr>
              <a:t>Conclusion.</a:t>
            </a:r>
            <a:endParaRPr lang="en-US" dirty="0">
              <a:solidFill>
                <a:srgbClr val="7030A0"/>
              </a:solidFill>
              <a:latin typeface="Algerian" panose="04020705040A02060702" pitchFamily="82" charset="0"/>
            </a:endParaRPr>
          </a:p>
        </p:txBody>
      </p:sp>
      <p:sp>
        <p:nvSpPr>
          <p:cNvPr id="3" name="Content Placeholder 2"/>
          <p:cNvSpPr>
            <a:spLocks noGrp="1"/>
          </p:cNvSpPr>
          <p:nvPr>
            <p:ph idx="1"/>
          </p:nvPr>
        </p:nvSpPr>
        <p:spPr/>
        <p:txBody>
          <a:bodyPr/>
          <a:lstStyle/>
          <a:p>
            <a:r>
              <a:rPr lang="en-GB" dirty="0" err="1" smtClean="0"/>
              <a:t>IoT</a:t>
            </a:r>
            <a:r>
              <a:rPr lang="en-GB" dirty="0" smtClean="0"/>
              <a:t> has gradually brought about many technological challenges in our daily life which in turn helps make our lives simpler and more comfortable through various technology and applications. There is an infinite benefit to </a:t>
            </a:r>
            <a:r>
              <a:rPr lang="en-GB" dirty="0" err="1" smtClean="0"/>
              <a:t>IoT</a:t>
            </a:r>
            <a:r>
              <a:rPr lang="en-GB" dirty="0" smtClean="0"/>
              <a:t> applications in all fields. The </a:t>
            </a:r>
            <a:r>
              <a:rPr lang="en-GB" dirty="0" err="1" smtClean="0"/>
              <a:t>IoT</a:t>
            </a:r>
            <a:r>
              <a:rPr lang="en-GB" dirty="0" smtClean="0"/>
              <a:t> holds an important promise to provide social and economic benefits to the emerging and developing economy. This includes sustainable agriculture, water quality.</a:t>
            </a:r>
            <a:endParaRPr lang="en-US" dirty="0"/>
          </a:p>
        </p:txBody>
      </p:sp>
    </p:spTree>
    <p:extLst>
      <p:ext uri="{BB962C8B-B14F-4D97-AF65-F5344CB8AC3E}">
        <p14:creationId xmlns:p14="http://schemas.microsoft.com/office/powerpoint/2010/main" val="362513856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3">
                                            <p:txEl>
                                              <p:pRg st="0" end="0"/>
                                            </p:txEl>
                                          </p:spTgt>
                                        </p:tgtEl>
                                        <p:attrNameLst>
                                          <p:attrName>ppt_x</p:attrName>
                                          <p:attrName>ppt_y</p:attrName>
                                        </p:attrNameLst>
                                      </p:cBhvr>
                                    </p:animMotion>
                                    <p:animRot by="1500000">
                                      <p:cBhvr>
                                        <p:cTn id="7" dur="125" fill="hold">
                                          <p:stCondLst>
                                            <p:cond delay="0"/>
                                          </p:stCondLst>
                                        </p:cTn>
                                        <p:tgtEl>
                                          <p:spTgt spid="3">
                                            <p:txEl>
                                              <p:pRg st="0" end="0"/>
                                            </p:txEl>
                                          </p:spTgt>
                                        </p:tgtEl>
                                        <p:attrNameLst>
                                          <p:attrName>r</p:attrName>
                                        </p:attrNameLst>
                                      </p:cBhvr>
                                    </p:animRot>
                                    <p:animRot by="-1500000">
                                      <p:cBhvr>
                                        <p:cTn id="8" dur="125" fill="hold">
                                          <p:stCondLst>
                                            <p:cond delay="125"/>
                                          </p:stCondLst>
                                        </p:cTn>
                                        <p:tgtEl>
                                          <p:spTgt spid="3">
                                            <p:txEl>
                                              <p:pRg st="0" end="0"/>
                                            </p:txEl>
                                          </p:spTgt>
                                        </p:tgtEl>
                                        <p:attrNameLst>
                                          <p:attrName>r</p:attrName>
                                        </p:attrNameLst>
                                      </p:cBhvr>
                                    </p:animRot>
                                    <p:animRot by="-1500000">
                                      <p:cBhvr>
                                        <p:cTn id="9" dur="125" fill="hold">
                                          <p:stCondLst>
                                            <p:cond delay="250"/>
                                          </p:stCondLst>
                                        </p:cTn>
                                        <p:tgtEl>
                                          <p:spTgt spid="3">
                                            <p:txEl>
                                              <p:pRg st="0" end="0"/>
                                            </p:txEl>
                                          </p:spTgt>
                                        </p:tgtEl>
                                        <p:attrNameLst>
                                          <p:attrName>r</p:attrName>
                                        </p:attrNameLst>
                                      </p:cBhvr>
                                    </p:animRot>
                                    <p:animRot by="1500000">
                                      <p:cBhvr>
                                        <p:cTn id="10" dur="125" fill="hold">
                                          <p:stCondLst>
                                            <p:cond delay="375"/>
                                          </p:stCondLst>
                                        </p:cTn>
                                        <p:tgtEl>
                                          <p:spTgt spid="3">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5" presetClass="exit" presetSubtype="0" fill="hold" grpId="0" nodeType="clickEffect">
                                  <p:stCondLst>
                                    <p:cond delay="0"/>
                                  </p:stCondLst>
                                  <p:childTnLst>
                                    <p:animEffect transition="out" filter="fade">
                                      <p:cBhvr>
                                        <p:cTn id="14" dur="2000"/>
                                        <p:tgtEl>
                                          <p:spTgt spid="2"/>
                                        </p:tgtEl>
                                      </p:cBhvr>
                                    </p:animEffect>
                                    <p:anim calcmode="lin" valueType="num">
                                      <p:cBhvr>
                                        <p:cTn id="15" dur="2000"/>
                                        <p:tgtEl>
                                          <p:spTgt spid="2"/>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6" dur="2000"/>
                                        <p:tgtEl>
                                          <p:spTgt spid="2"/>
                                        </p:tgtEl>
                                        <p:attrNameLst>
                                          <p:attrName>ppt_h</p:attrName>
                                        </p:attrNameLst>
                                      </p:cBhvr>
                                      <p:tavLst>
                                        <p:tav tm="0">
                                          <p:val>
                                            <p:strVal val="ppt_h"/>
                                          </p:val>
                                        </p:tav>
                                        <p:tav tm="100000">
                                          <p:val>
                                            <p:strVal val="ppt_h"/>
                                          </p:val>
                                        </p:tav>
                                      </p:tavLst>
                                    </p:anim>
                                    <p:set>
                                      <p:cBhvr>
                                        <p:cTn id="17"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315</TotalTime>
  <Words>858</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Algerian</vt:lpstr>
      <vt:lpstr>Arial</vt:lpstr>
      <vt:lpstr>Arial Narrow</vt:lpstr>
      <vt:lpstr>Arial Rounded MT Bold</vt:lpstr>
      <vt:lpstr>Artifakt Element Heavy</vt:lpstr>
      <vt:lpstr>Century Gothic</vt:lpstr>
      <vt:lpstr>Tahoma</vt:lpstr>
      <vt:lpstr>Wingdings</vt:lpstr>
      <vt:lpstr>Wingdings 3</vt:lpstr>
      <vt:lpstr>Wisp</vt:lpstr>
      <vt:lpstr>INTERNET of THINGS (IoT)</vt:lpstr>
      <vt:lpstr>HISTORY AND EVOLUTION OF IoT</vt:lpstr>
      <vt:lpstr>HOW IoT WORKS.</vt:lpstr>
      <vt:lpstr> Contn...</vt:lpstr>
      <vt:lpstr>APPLICATIONS OF IoT.</vt:lpstr>
      <vt:lpstr>Advantages of IoT.</vt:lpstr>
      <vt:lpstr>DISADVANTAGES OF IoT.</vt:lpstr>
      <vt:lpstr>RELEVANCE AND POTENTIAL IMPACTS.</vt:lpstr>
      <vt:lpstr>Contn….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 (IoT)</dc:title>
  <dc:creator>Microsoft account</dc:creator>
  <cp:lastModifiedBy>Admin</cp:lastModifiedBy>
  <cp:revision>29</cp:revision>
  <dcterms:created xsi:type="dcterms:W3CDTF">2025-11-14T10:06:26Z</dcterms:created>
  <dcterms:modified xsi:type="dcterms:W3CDTF">2025-11-17T12:41:54Z</dcterms:modified>
</cp:coreProperties>
</file>